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Poppins Semi-Bold" charset="1" panose="00000700000000000000"/>
      <p:regular r:id="rId28"/>
    </p:embeddedFont>
    <p:embeddedFont>
      <p:font typeface="Calibri (MS) Bold" charset="1" panose="020F0702030404030204"/>
      <p:regular r:id="rId29"/>
    </p:embeddedFont>
    <p:embeddedFont>
      <p:font typeface="Inter" charset="1" panose="02000503000000020004"/>
      <p:regular r:id="rId30"/>
    </p:embeddedFont>
    <p:embeddedFont>
      <p:font typeface="Poppins" charset="1" panose="00000500000000000000"/>
      <p:regular r:id="rId31"/>
    </p:embeddedFont>
    <p:embeddedFont>
      <p:font typeface="Poppins Bold" charset="1" panose="00000800000000000000"/>
      <p:regular r:id="rId32"/>
    </p:embeddedFont>
    <p:embeddedFont>
      <p:font typeface="DM Sans" charset="1" panose="00000000000000000000"/>
      <p:regular r:id="rId33"/>
    </p:embeddedFont>
    <p:embeddedFont>
      <p:font typeface="DM Sans Bold" charset="1" panose="00000000000000000000"/>
      <p:regular r:id="rId34"/>
    </p:embeddedFont>
    <p:embeddedFont>
      <p:font typeface="Open Sans Bold" charset="1" panose="020B0806030504020204"/>
      <p:regular r:id="rId35"/>
    </p:embeddedFont>
    <p:embeddedFont>
      <p:font typeface="Arimo" charset="1" panose="020B0604020202020204"/>
      <p:regular r:id="rId36"/>
    </p:embeddedFont>
    <p:embeddedFont>
      <p:font typeface="Open Sans" charset="1" panose="020B0606030504020204"/>
      <p:regular r:id="rId37"/>
    </p:embeddedFont>
    <p:embeddedFont>
      <p:font typeface="Public Sans" charset="1" panose="00000000000000000000"/>
      <p:regular r:id="rId38"/>
    </p:embeddedFont>
    <p:embeddedFont>
      <p:font typeface="Open Sans Light" charset="1" panose="020B0306030504020204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sv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</a:blip>
            <a:stretch>
              <a:fillRect l="0" t="-9467" r="0" b="-946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86640" y="3776756"/>
            <a:ext cx="13114720" cy="1992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61"/>
              </a:lnSpc>
            </a:pPr>
            <a:r>
              <a:rPr lang="en-US" b="true" sz="8525" spc="-460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SYSTÈME DE GESTION DES MEMBRES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70072" y="224981"/>
            <a:ext cx="3838575" cy="1228725"/>
            <a:chOff x="0" y="0"/>
            <a:chExt cx="5118100" cy="1638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118100" cy="1638300"/>
            </a:xfrm>
            <a:custGeom>
              <a:avLst/>
              <a:gdLst/>
              <a:ahLst/>
              <a:cxnLst/>
              <a:rect r="r" b="b" t="t" l="l"/>
              <a:pathLst>
                <a:path h="1638300" w="5118100">
                  <a:moveTo>
                    <a:pt x="0" y="0"/>
                  </a:moveTo>
                  <a:lnTo>
                    <a:pt x="5118100" y="0"/>
                  </a:lnTo>
                  <a:lnTo>
                    <a:pt x="5118100" y="1638300"/>
                  </a:lnTo>
                  <a:lnTo>
                    <a:pt x="0" y="1638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4031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8496300"/>
            <a:ext cx="3556454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Présenté par :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Assma Raji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181601" y="622935"/>
            <a:ext cx="6304657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 spc="-95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Filière : Ingénierie Informatique et Réseaux (3IIR)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605311" y="8496300"/>
            <a:ext cx="383698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Supervisé par</a:t>
            </a: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: 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Pr.GHAZOUANI Mohamed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322981" y="5759345"/>
            <a:ext cx="7164685" cy="661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22"/>
              </a:lnSpc>
              <a:spcBef>
                <a:spcPct val="0"/>
              </a:spcBef>
            </a:pP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</a:t>
            </a: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ojet : GymClub Manager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5400000">
            <a:off x="-1451191" y="2685116"/>
            <a:ext cx="10287000" cy="4916769"/>
            <a:chOff x="0" y="0"/>
            <a:chExt cx="3443658" cy="16459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443658" cy="1645929"/>
            </a:xfrm>
            <a:custGeom>
              <a:avLst/>
              <a:gdLst/>
              <a:ahLst/>
              <a:cxnLst/>
              <a:rect r="r" b="b" t="t" l="l"/>
              <a:pathLst>
                <a:path h="1645929" w="3443658">
                  <a:moveTo>
                    <a:pt x="37630" y="0"/>
                  </a:moveTo>
                  <a:lnTo>
                    <a:pt x="3406029" y="0"/>
                  </a:lnTo>
                  <a:cubicBezTo>
                    <a:pt x="3426811" y="0"/>
                    <a:pt x="3443658" y="16847"/>
                    <a:pt x="3443658" y="37630"/>
                  </a:cubicBezTo>
                  <a:lnTo>
                    <a:pt x="3443658" y="1608299"/>
                  </a:lnTo>
                  <a:cubicBezTo>
                    <a:pt x="3443658" y="1618279"/>
                    <a:pt x="3439694" y="1627850"/>
                    <a:pt x="3432637" y="1634907"/>
                  </a:cubicBezTo>
                  <a:cubicBezTo>
                    <a:pt x="3425580" y="1641964"/>
                    <a:pt x="3416009" y="1645929"/>
                    <a:pt x="3406029" y="1645929"/>
                  </a:cubicBezTo>
                  <a:lnTo>
                    <a:pt x="37630" y="1645929"/>
                  </a:lnTo>
                  <a:cubicBezTo>
                    <a:pt x="27650" y="1645929"/>
                    <a:pt x="18078" y="1641964"/>
                    <a:pt x="11021" y="1634907"/>
                  </a:cubicBezTo>
                  <a:cubicBezTo>
                    <a:pt x="3965" y="1627850"/>
                    <a:pt x="0" y="1618279"/>
                    <a:pt x="0" y="1608299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85725"/>
              <a:ext cx="3443658" cy="1560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417629" y="3187910"/>
            <a:ext cx="2549361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Plan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8177239" y="2663037"/>
            <a:ext cx="612771" cy="306385"/>
            <a:chOff x="0" y="0"/>
            <a:chExt cx="812800" cy="406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9463060" y="2672562"/>
            <a:ext cx="4274818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Contexte et Problématique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63060" y="3792146"/>
            <a:ext cx="3530456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Analyse et conception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63060" y="4999832"/>
            <a:ext cx="4963369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Architecture et Technologies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63060" y="6106318"/>
            <a:ext cx="164911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9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Réalisation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463060" y="7239001"/>
            <a:ext cx="4542957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Conclusion et perspective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177239" y="6153943"/>
            <a:ext cx="612771" cy="306385"/>
            <a:chOff x="0" y="0"/>
            <a:chExt cx="812800" cy="406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77239" y="4990307"/>
            <a:ext cx="612771" cy="306385"/>
            <a:chOff x="0" y="0"/>
            <a:chExt cx="812800" cy="406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77239" y="3826672"/>
            <a:ext cx="612771" cy="306385"/>
            <a:chOff x="0" y="0"/>
            <a:chExt cx="812800" cy="406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177239" y="7317578"/>
            <a:ext cx="612771" cy="306385"/>
            <a:chOff x="0" y="0"/>
            <a:chExt cx="812800" cy="406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21396" y="1796596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Contexte et Problématique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850713" y="4104322"/>
            <a:ext cx="11922889" cy="204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Le projet répond au besoin de modernisation des salles de sport face aux limites de la gestion manuelle.</a:t>
            </a:r>
          </a:p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L'obje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ctif est d'offrir un outil centralisé pour le suivi rigoureux des inscriptions, des paiements et des accès membres.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821396" y="2883802"/>
            <a:ext cx="10461121" cy="352838"/>
            <a:chOff x="0" y="0"/>
            <a:chExt cx="2755192" cy="9292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755192" cy="92928"/>
            </a:xfrm>
            <a:custGeom>
              <a:avLst/>
              <a:gdLst/>
              <a:ahLst/>
              <a:cxnLst/>
              <a:rect r="r" b="b" t="t" l="l"/>
              <a:pathLst>
                <a:path h="92928" w="2755192">
                  <a:moveTo>
                    <a:pt x="37743" y="0"/>
                  </a:moveTo>
                  <a:lnTo>
                    <a:pt x="2717449" y="0"/>
                  </a:lnTo>
                  <a:cubicBezTo>
                    <a:pt x="2727459" y="0"/>
                    <a:pt x="2737059" y="3977"/>
                    <a:pt x="2744138" y="11055"/>
                  </a:cubicBezTo>
                  <a:cubicBezTo>
                    <a:pt x="2751216" y="18133"/>
                    <a:pt x="2755192" y="27733"/>
                    <a:pt x="2755192" y="37743"/>
                  </a:cubicBezTo>
                  <a:lnTo>
                    <a:pt x="2755192" y="55185"/>
                  </a:lnTo>
                  <a:cubicBezTo>
                    <a:pt x="2755192" y="65195"/>
                    <a:pt x="2751216" y="74795"/>
                    <a:pt x="2744138" y="81874"/>
                  </a:cubicBezTo>
                  <a:cubicBezTo>
                    <a:pt x="2737059" y="88952"/>
                    <a:pt x="2727459" y="92928"/>
                    <a:pt x="2717449" y="92928"/>
                  </a:cubicBezTo>
                  <a:lnTo>
                    <a:pt x="37743" y="92928"/>
                  </a:lnTo>
                  <a:cubicBezTo>
                    <a:pt x="27733" y="92928"/>
                    <a:pt x="18133" y="88952"/>
                    <a:pt x="11055" y="81874"/>
                  </a:cubicBezTo>
                  <a:cubicBezTo>
                    <a:pt x="3977" y="74795"/>
                    <a:pt x="0" y="65195"/>
                    <a:pt x="0" y="55185"/>
                  </a:cubicBezTo>
                  <a:lnTo>
                    <a:pt x="0" y="37743"/>
                  </a:lnTo>
                  <a:cubicBezTo>
                    <a:pt x="0" y="27733"/>
                    <a:pt x="3977" y="18133"/>
                    <a:pt x="11055" y="11055"/>
                  </a:cubicBezTo>
                  <a:cubicBezTo>
                    <a:pt x="18133" y="3977"/>
                    <a:pt x="27733" y="0"/>
                    <a:pt x="37743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755192" cy="1310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3080450" y="6363652"/>
            <a:ext cx="10508325" cy="7275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  <a:spcBef>
                <a:spcPct val="0"/>
              </a:spcBef>
            </a:pPr>
            <a:r>
              <a:rPr lang="en-US" b="true" sz="2400">
                <a:solidFill>
                  <a:srgbClr val="028E38"/>
                </a:solidFill>
                <a:latin typeface="DM Sans Bold"/>
                <a:ea typeface="DM Sans Bold"/>
                <a:cs typeface="DM Sans Bold"/>
                <a:sym typeface="DM Sans Bold"/>
              </a:rPr>
              <a:t>Enjeu 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Éliminer les erreurs humaines et automatiser le calcul des dates d'expiration pour une rentabilité optimale.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900788" y="4272153"/>
            <a:ext cx="8486424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Analyse et conception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4717518" y="5359853"/>
            <a:ext cx="8852964" cy="352246"/>
            <a:chOff x="0" y="0"/>
            <a:chExt cx="2331645" cy="927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717518" y="6086903"/>
            <a:ext cx="9346651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Étude des besoins fonctionnels et modélisation du système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3818" y="2449103"/>
            <a:ext cx="13466740" cy="7393529"/>
            <a:chOff x="0" y="0"/>
            <a:chExt cx="3790812" cy="208123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90812" cy="2081237"/>
            </a:xfrm>
            <a:custGeom>
              <a:avLst/>
              <a:gdLst/>
              <a:ahLst/>
              <a:cxnLst/>
              <a:rect r="r" b="b" t="t" l="l"/>
              <a:pathLst>
                <a:path h="2081237" w="3790812">
                  <a:moveTo>
                    <a:pt x="0" y="0"/>
                  </a:moveTo>
                  <a:lnTo>
                    <a:pt x="3790812" y="0"/>
                  </a:lnTo>
                  <a:lnTo>
                    <a:pt x="3790812" y="2081237"/>
                  </a:lnTo>
                  <a:lnTo>
                    <a:pt x="0" y="2081237"/>
                  </a:lnTo>
                  <a:close/>
                </a:path>
              </a:pathLst>
            </a:custGeom>
            <a:blipFill>
              <a:blip r:embed="rId2"/>
              <a:stretch>
                <a:fillRect l="-1007" t="0" r="-1007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74138" y="1009650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Diagramme de classe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274138" y="2096857"/>
            <a:ext cx="8852964" cy="352246"/>
            <a:chOff x="0" y="0"/>
            <a:chExt cx="2331645" cy="927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44407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027042" y="1454849"/>
            <a:ext cx="8881711" cy="8043855"/>
            <a:chOff x="0" y="0"/>
            <a:chExt cx="2275169" cy="20605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75169" cy="2060541"/>
            </a:xfrm>
            <a:custGeom>
              <a:avLst/>
              <a:gdLst/>
              <a:ahLst/>
              <a:cxnLst/>
              <a:rect r="r" b="b" t="t" l="l"/>
              <a:pathLst>
                <a:path h="2060541" w="2275169">
                  <a:moveTo>
                    <a:pt x="0" y="0"/>
                  </a:moveTo>
                  <a:lnTo>
                    <a:pt x="2275169" y="0"/>
                  </a:lnTo>
                  <a:lnTo>
                    <a:pt x="2275169" y="2060541"/>
                  </a:lnTo>
                  <a:lnTo>
                    <a:pt x="0" y="2060541"/>
                  </a:lnTo>
                  <a:close/>
                </a:path>
              </a:pathLst>
            </a:custGeom>
            <a:blipFill>
              <a:blip r:embed="rId2"/>
              <a:stretch>
                <a:fillRect l="0" t="-475" r="0" b="-475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705310" y="2630078"/>
            <a:ext cx="5709608" cy="449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b="true" sz="2400" spc="144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Réceptionniste 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Gestion quotidienne (Inscriptions, paiements, recherche, consultation des expirations).</a:t>
            </a:r>
          </a:p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b="true" sz="2400" spc="144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Administrateur 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Contrôle total sur le catalogue d'abonnements et les réglages système.</a:t>
            </a:r>
          </a:p>
          <a:p>
            <a:pPr algn="l" marL="518160" indent="-259080" lvl="1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00" spc="144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Sécurité 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Authentification obligatoire pour l’admin pour accéder aux fonctionnalités critiques.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74138" y="1009650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Diagramme Use case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274138" y="2096857"/>
            <a:ext cx="8852964" cy="352246"/>
            <a:chOff x="0" y="0"/>
            <a:chExt cx="2331645" cy="927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444072" y="-112489"/>
            <a:ext cx="796178" cy="1141189"/>
            <a:chOff x="0" y="0"/>
            <a:chExt cx="381000" cy="546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717518" y="2096857"/>
            <a:ext cx="8852964" cy="352246"/>
            <a:chOff x="0" y="0"/>
            <a:chExt cx="2331645" cy="927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466668" y="5775895"/>
            <a:ext cx="4795587" cy="2128485"/>
            <a:chOff x="0" y="0"/>
            <a:chExt cx="1605362" cy="71252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05362" cy="712528"/>
            </a:xfrm>
            <a:custGeom>
              <a:avLst/>
              <a:gdLst/>
              <a:ahLst/>
              <a:cxnLst/>
              <a:rect r="r" b="b" t="t" l="l"/>
              <a:pathLst>
                <a:path h="712528" w="1605362">
                  <a:moveTo>
                    <a:pt x="80719" y="0"/>
                  </a:moveTo>
                  <a:lnTo>
                    <a:pt x="1524643" y="0"/>
                  </a:lnTo>
                  <a:cubicBezTo>
                    <a:pt x="1569223" y="0"/>
                    <a:pt x="1605362" y="36139"/>
                    <a:pt x="1605362" y="80719"/>
                  </a:cubicBezTo>
                  <a:lnTo>
                    <a:pt x="1605362" y="631809"/>
                  </a:lnTo>
                  <a:cubicBezTo>
                    <a:pt x="1605362" y="653217"/>
                    <a:pt x="1596858" y="673748"/>
                    <a:pt x="1581720" y="688886"/>
                  </a:cubicBezTo>
                  <a:cubicBezTo>
                    <a:pt x="1566582" y="704024"/>
                    <a:pt x="1546051" y="712528"/>
                    <a:pt x="1524643" y="712528"/>
                  </a:cubicBezTo>
                  <a:lnTo>
                    <a:pt x="80719" y="712528"/>
                  </a:lnTo>
                  <a:cubicBezTo>
                    <a:pt x="36139" y="712528"/>
                    <a:pt x="0" y="676389"/>
                    <a:pt x="0" y="631809"/>
                  </a:cubicBezTo>
                  <a:lnTo>
                    <a:pt x="0" y="80719"/>
                  </a:lnTo>
                  <a:cubicBezTo>
                    <a:pt x="0" y="59311"/>
                    <a:pt x="8504" y="38780"/>
                    <a:pt x="23642" y="23642"/>
                  </a:cubicBezTo>
                  <a:cubicBezTo>
                    <a:pt x="38780" y="8504"/>
                    <a:pt x="59311" y="0"/>
                    <a:pt x="80719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85725"/>
              <a:ext cx="1605362" cy="626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  <a:r>
                <a:rPr lang="en-US" sz="2500" spc="-205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Gestion de base de données relationnelle garantissant l'intégrité des transactions financières.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746207" y="5803740"/>
            <a:ext cx="4795587" cy="2128485"/>
            <a:chOff x="0" y="0"/>
            <a:chExt cx="1605362" cy="7125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05362" cy="712528"/>
            </a:xfrm>
            <a:custGeom>
              <a:avLst/>
              <a:gdLst/>
              <a:ahLst/>
              <a:cxnLst/>
              <a:rect r="r" b="b" t="t" l="l"/>
              <a:pathLst>
                <a:path h="712528" w="1605362">
                  <a:moveTo>
                    <a:pt x="80719" y="0"/>
                  </a:moveTo>
                  <a:lnTo>
                    <a:pt x="1524643" y="0"/>
                  </a:lnTo>
                  <a:cubicBezTo>
                    <a:pt x="1569223" y="0"/>
                    <a:pt x="1605362" y="36139"/>
                    <a:pt x="1605362" y="80719"/>
                  </a:cubicBezTo>
                  <a:lnTo>
                    <a:pt x="1605362" y="631809"/>
                  </a:lnTo>
                  <a:cubicBezTo>
                    <a:pt x="1605362" y="653217"/>
                    <a:pt x="1596858" y="673748"/>
                    <a:pt x="1581720" y="688886"/>
                  </a:cubicBezTo>
                  <a:cubicBezTo>
                    <a:pt x="1566582" y="704024"/>
                    <a:pt x="1546051" y="712528"/>
                    <a:pt x="1524643" y="712528"/>
                  </a:cubicBezTo>
                  <a:lnTo>
                    <a:pt x="80719" y="712528"/>
                  </a:lnTo>
                  <a:cubicBezTo>
                    <a:pt x="36139" y="712528"/>
                    <a:pt x="0" y="676389"/>
                    <a:pt x="0" y="631809"/>
                  </a:cubicBezTo>
                  <a:lnTo>
                    <a:pt x="0" y="80719"/>
                  </a:lnTo>
                  <a:cubicBezTo>
                    <a:pt x="0" y="59311"/>
                    <a:pt x="8504" y="38780"/>
                    <a:pt x="23642" y="23642"/>
                  </a:cubicBezTo>
                  <a:cubicBezTo>
                    <a:pt x="38780" y="8504"/>
                    <a:pt x="59311" y="0"/>
                    <a:pt x="80719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5725"/>
              <a:ext cx="1605362" cy="626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  <a:r>
                <a:rPr lang="en-US" sz="2500" spc="-205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Utilisation d'une interface responsive et moderne pour un confort d'utilisation sur tablette et ordinateur.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45745" y="5775895"/>
            <a:ext cx="4795587" cy="2128485"/>
            <a:chOff x="0" y="0"/>
            <a:chExt cx="1605362" cy="7125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05362" cy="712528"/>
            </a:xfrm>
            <a:custGeom>
              <a:avLst/>
              <a:gdLst/>
              <a:ahLst/>
              <a:cxnLst/>
              <a:rect r="r" b="b" t="t" l="l"/>
              <a:pathLst>
                <a:path h="712528" w="1605362">
                  <a:moveTo>
                    <a:pt x="80719" y="0"/>
                  </a:moveTo>
                  <a:lnTo>
                    <a:pt x="1524643" y="0"/>
                  </a:lnTo>
                  <a:cubicBezTo>
                    <a:pt x="1569223" y="0"/>
                    <a:pt x="1605362" y="36139"/>
                    <a:pt x="1605362" y="80719"/>
                  </a:cubicBezTo>
                  <a:lnTo>
                    <a:pt x="1605362" y="631809"/>
                  </a:lnTo>
                  <a:cubicBezTo>
                    <a:pt x="1605362" y="653217"/>
                    <a:pt x="1596858" y="673748"/>
                    <a:pt x="1581720" y="688886"/>
                  </a:cubicBezTo>
                  <a:cubicBezTo>
                    <a:pt x="1566582" y="704024"/>
                    <a:pt x="1546051" y="712528"/>
                    <a:pt x="1524643" y="712528"/>
                  </a:cubicBezTo>
                  <a:lnTo>
                    <a:pt x="80719" y="712528"/>
                  </a:lnTo>
                  <a:cubicBezTo>
                    <a:pt x="36139" y="712528"/>
                    <a:pt x="0" y="676389"/>
                    <a:pt x="0" y="631809"/>
                  </a:cubicBezTo>
                  <a:lnTo>
                    <a:pt x="0" y="80719"/>
                  </a:lnTo>
                  <a:cubicBezTo>
                    <a:pt x="0" y="59311"/>
                    <a:pt x="8504" y="38780"/>
                    <a:pt x="23642" y="23642"/>
                  </a:cubicBezTo>
                  <a:cubicBezTo>
                    <a:pt x="38780" y="8504"/>
                    <a:pt x="59311" y="0"/>
                    <a:pt x="80719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85725"/>
              <a:ext cx="1605362" cy="626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  <a:r>
                <a:rPr lang="en-US" sz="2500" spc="-205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Framework backend assurant la sécurité, la rapidité de développement et une interface d'administration native.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 flipV="true">
            <a:off x="12466668" y="6535031"/>
            <a:ext cx="0" cy="73879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flipV="true">
            <a:off x="6765257" y="6458455"/>
            <a:ext cx="0" cy="73879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flipV="true">
            <a:off x="1064795" y="6535031"/>
            <a:ext cx="0" cy="73879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7" id="17"/>
          <p:cNvSpPr/>
          <p:nvPr/>
        </p:nvSpPr>
        <p:spPr>
          <a:xfrm flipH="false" flipV="false" rot="0">
            <a:off x="1064795" y="4392736"/>
            <a:ext cx="1383159" cy="1383159"/>
          </a:xfrm>
          <a:custGeom>
            <a:avLst/>
            <a:gdLst/>
            <a:ahLst/>
            <a:cxnLst/>
            <a:rect r="r" b="b" t="t" l="l"/>
            <a:pathLst>
              <a:path h="1383159" w="1383159">
                <a:moveTo>
                  <a:pt x="0" y="0"/>
                </a:moveTo>
                <a:lnTo>
                  <a:pt x="1383159" y="0"/>
                </a:lnTo>
                <a:lnTo>
                  <a:pt x="1383159" y="1383159"/>
                </a:lnTo>
                <a:lnTo>
                  <a:pt x="0" y="13831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765257" y="4420581"/>
            <a:ext cx="1656495" cy="1355314"/>
          </a:xfrm>
          <a:custGeom>
            <a:avLst/>
            <a:gdLst/>
            <a:ahLst/>
            <a:cxnLst/>
            <a:rect r="r" b="b" t="t" l="l"/>
            <a:pathLst>
              <a:path h="1355314" w="1656495">
                <a:moveTo>
                  <a:pt x="0" y="0"/>
                </a:moveTo>
                <a:lnTo>
                  <a:pt x="1656495" y="0"/>
                </a:lnTo>
                <a:lnTo>
                  <a:pt x="1656495" y="1355314"/>
                </a:lnTo>
                <a:lnTo>
                  <a:pt x="0" y="13553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718481" y="4392736"/>
            <a:ext cx="1091370" cy="1383159"/>
          </a:xfrm>
          <a:custGeom>
            <a:avLst/>
            <a:gdLst/>
            <a:ahLst/>
            <a:cxnLst/>
            <a:rect r="r" b="b" t="t" l="l"/>
            <a:pathLst>
              <a:path h="1383159" w="1091370">
                <a:moveTo>
                  <a:pt x="0" y="0"/>
                </a:moveTo>
                <a:lnTo>
                  <a:pt x="1091370" y="0"/>
                </a:lnTo>
                <a:lnTo>
                  <a:pt x="1091370" y="1383159"/>
                </a:lnTo>
                <a:lnTo>
                  <a:pt x="0" y="1383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3625658" y="1009650"/>
            <a:ext cx="11036683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83"/>
              </a:lnSpc>
            </a:pPr>
            <a:r>
              <a:rPr lang="en-US" b="true" sz="5599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Architecture et Technologies 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7954" y="4779167"/>
            <a:ext cx="3129070" cy="395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Django (Python)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028926" y="4779167"/>
            <a:ext cx="2031439" cy="395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SQLite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367598" y="4779167"/>
            <a:ext cx="2797228" cy="395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Bootstrap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21396" y="1796596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Les acteurs de system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21396" y="2883802"/>
            <a:ext cx="8852964" cy="352246"/>
            <a:chOff x="0" y="0"/>
            <a:chExt cx="2331645" cy="927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198730" y="3792829"/>
            <a:ext cx="1414301" cy="1291733"/>
          </a:xfrm>
          <a:custGeom>
            <a:avLst/>
            <a:gdLst/>
            <a:ahLst/>
            <a:cxnLst/>
            <a:rect r="r" b="b" t="t" l="l"/>
            <a:pathLst>
              <a:path h="1291733" w="1414301">
                <a:moveTo>
                  <a:pt x="0" y="0"/>
                </a:moveTo>
                <a:lnTo>
                  <a:pt x="1414301" y="0"/>
                </a:lnTo>
                <a:lnTo>
                  <a:pt x="1414301" y="1291733"/>
                </a:lnTo>
                <a:lnTo>
                  <a:pt x="0" y="12917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615708" y="5641353"/>
            <a:ext cx="13056441" cy="36986"/>
          </a:xfrm>
          <a:custGeom>
            <a:avLst/>
            <a:gdLst/>
            <a:ahLst/>
            <a:cxnLst/>
            <a:rect r="r" b="b" t="t" l="l"/>
            <a:pathLst>
              <a:path h="36986" w="13056441">
                <a:moveTo>
                  <a:pt x="0" y="0"/>
                </a:moveTo>
                <a:lnTo>
                  <a:pt x="13056441" y="0"/>
                </a:lnTo>
                <a:lnTo>
                  <a:pt x="13056441" y="36985"/>
                </a:lnTo>
                <a:lnTo>
                  <a:pt x="0" y="369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4198730" y="3792829"/>
            <a:ext cx="1412348" cy="1291733"/>
            <a:chOff x="0" y="0"/>
            <a:chExt cx="1412354" cy="129173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285369" cy="1164715"/>
            </a:xfrm>
            <a:custGeom>
              <a:avLst/>
              <a:gdLst/>
              <a:ahLst/>
              <a:cxnLst/>
              <a:rect r="r" b="b" t="t" l="l"/>
              <a:pathLst>
                <a:path h="1164715" w="1285369">
                  <a:moveTo>
                    <a:pt x="0" y="1164715"/>
                  </a:moveTo>
                  <a:lnTo>
                    <a:pt x="1285369" y="1164715"/>
                  </a:lnTo>
                  <a:lnTo>
                    <a:pt x="128536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405893" y="372109"/>
              <a:ext cx="612268" cy="521080"/>
            </a:xfrm>
            <a:custGeom>
              <a:avLst/>
              <a:gdLst/>
              <a:ahLst/>
              <a:cxnLst/>
              <a:rect r="r" b="b" t="t" l="l"/>
              <a:pathLst>
                <a:path h="521080" w="612268">
                  <a:moveTo>
                    <a:pt x="0" y="521080"/>
                  </a:moveTo>
                  <a:lnTo>
                    <a:pt x="612268" y="521080"/>
                  </a:lnTo>
                  <a:lnTo>
                    <a:pt x="6122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2615775" y="5641343"/>
            <a:ext cx="13056460" cy="37005"/>
            <a:chOff x="0" y="0"/>
            <a:chExt cx="13056464" cy="3700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056495" cy="36963"/>
            </a:xfrm>
            <a:custGeom>
              <a:avLst/>
              <a:gdLst/>
              <a:ahLst/>
              <a:cxnLst/>
              <a:rect r="r" b="b" t="t" l="l"/>
              <a:pathLst>
                <a:path h="36963" w="13056495">
                  <a:moveTo>
                    <a:pt x="0" y="36963"/>
                  </a:moveTo>
                  <a:lnTo>
                    <a:pt x="13056495" y="36963"/>
                  </a:lnTo>
                  <a:lnTo>
                    <a:pt x="130564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3088853" y="5092443"/>
            <a:ext cx="3632103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3F3F3F"/>
                </a:solidFill>
                <a:latin typeface="Arimo"/>
                <a:ea typeface="Arimo"/>
                <a:cs typeface="Arimo"/>
                <a:sym typeface="Arimo"/>
              </a:rPr>
              <a:t>Gestionnaire du Club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028639" y="5092443"/>
            <a:ext cx="2363788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3F3F3F"/>
                </a:solidFill>
                <a:latin typeface="Arimo"/>
                <a:ea typeface="Arimo"/>
                <a:cs typeface="Arimo"/>
                <a:sym typeface="Arimo"/>
              </a:rPr>
              <a:t>Réceptionniste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993008" y="5811698"/>
            <a:ext cx="4292444" cy="2855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Acteur central des opérations quotidiennes : inscription des membres, encaissement des paiements et vérification des statuts d'accès.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134017" y="5811698"/>
            <a:ext cx="5269511" cy="237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Responsable du pilotage stratégique : gestion du catalogue d'abonnements, audit des transactions et gestion des comptes utilisateurs.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1504359" y="3792829"/>
            <a:ext cx="1414301" cy="1291733"/>
          </a:xfrm>
          <a:custGeom>
            <a:avLst/>
            <a:gdLst/>
            <a:ahLst/>
            <a:cxnLst/>
            <a:rect r="r" b="b" t="t" l="l"/>
            <a:pathLst>
              <a:path h="1291733" w="1414301">
                <a:moveTo>
                  <a:pt x="0" y="0"/>
                </a:moveTo>
                <a:lnTo>
                  <a:pt x="1414300" y="0"/>
                </a:lnTo>
                <a:lnTo>
                  <a:pt x="1414300" y="1291733"/>
                </a:lnTo>
                <a:lnTo>
                  <a:pt x="0" y="12917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1504359" y="3792829"/>
            <a:ext cx="1412348" cy="1291733"/>
            <a:chOff x="0" y="0"/>
            <a:chExt cx="1412354" cy="129173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1285369" cy="1164715"/>
            </a:xfrm>
            <a:custGeom>
              <a:avLst/>
              <a:gdLst/>
              <a:ahLst/>
              <a:cxnLst/>
              <a:rect r="r" b="b" t="t" l="l"/>
              <a:pathLst>
                <a:path h="1164715" w="1285369">
                  <a:moveTo>
                    <a:pt x="0" y="1164715"/>
                  </a:moveTo>
                  <a:lnTo>
                    <a:pt x="1285369" y="1164715"/>
                  </a:lnTo>
                  <a:lnTo>
                    <a:pt x="128536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405893" y="372109"/>
              <a:ext cx="612268" cy="521080"/>
            </a:xfrm>
            <a:custGeom>
              <a:avLst/>
              <a:gdLst/>
              <a:ahLst/>
              <a:cxnLst/>
              <a:rect r="r" b="b" t="t" l="l"/>
              <a:pathLst>
                <a:path h="521080" w="612268">
                  <a:moveTo>
                    <a:pt x="0" y="521080"/>
                  </a:moveTo>
                  <a:lnTo>
                    <a:pt x="612268" y="521080"/>
                  </a:lnTo>
                  <a:lnTo>
                    <a:pt x="6122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14234" y="2254395"/>
            <a:ext cx="17059532" cy="7147828"/>
            <a:chOff x="0" y="0"/>
            <a:chExt cx="3034314" cy="127135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034314" cy="1271357"/>
            </a:xfrm>
            <a:custGeom>
              <a:avLst/>
              <a:gdLst/>
              <a:ahLst/>
              <a:cxnLst/>
              <a:rect r="r" b="b" t="t" l="l"/>
              <a:pathLst>
                <a:path h="1271357" w="3034314">
                  <a:moveTo>
                    <a:pt x="0" y="0"/>
                  </a:moveTo>
                  <a:lnTo>
                    <a:pt x="3034314" y="0"/>
                  </a:lnTo>
                  <a:lnTo>
                    <a:pt x="3034314" y="1271357"/>
                  </a:lnTo>
                  <a:lnTo>
                    <a:pt x="0" y="1271357"/>
                  </a:lnTo>
                  <a:close/>
                </a:path>
              </a:pathLst>
            </a:custGeom>
            <a:blipFill>
              <a:blip r:embed="rId2"/>
              <a:stretch>
                <a:fillRect l="-178" t="0" r="-178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7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3994" y="2272889"/>
            <a:ext cx="15780012" cy="8191237"/>
            <a:chOff x="0" y="0"/>
            <a:chExt cx="2806731" cy="14569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06731" cy="1456944"/>
            </a:xfrm>
            <a:custGeom>
              <a:avLst/>
              <a:gdLst/>
              <a:ahLst/>
              <a:cxnLst/>
              <a:rect r="r" b="b" t="t" l="l"/>
              <a:pathLst>
                <a:path h="1456944" w="2806731">
                  <a:moveTo>
                    <a:pt x="0" y="0"/>
                  </a:moveTo>
                  <a:lnTo>
                    <a:pt x="2806731" y="0"/>
                  </a:lnTo>
                  <a:lnTo>
                    <a:pt x="2806731" y="1456944"/>
                  </a:lnTo>
                  <a:lnTo>
                    <a:pt x="0" y="1456944"/>
                  </a:lnTo>
                  <a:close/>
                </a:path>
              </a:pathLst>
            </a:custGeom>
            <a:blipFill>
              <a:blip r:embed="rId2"/>
              <a:stretch>
                <a:fillRect l="-32" t="0" r="-32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8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28468" y="2366998"/>
            <a:ext cx="15831065" cy="7590426"/>
            <a:chOff x="0" y="0"/>
            <a:chExt cx="2815811" cy="135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350080"/>
            </a:xfrm>
            <a:custGeom>
              <a:avLst/>
              <a:gdLst/>
              <a:ahLst/>
              <a:cxnLst/>
              <a:rect r="r" b="b" t="t" l="l"/>
              <a:pathLst>
                <a:path h="1350080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350080"/>
                  </a:lnTo>
                  <a:lnTo>
                    <a:pt x="0" y="1350080"/>
                  </a:lnTo>
                  <a:close/>
                </a:path>
              </a:pathLst>
            </a:custGeom>
            <a:blipFill>
              <a:blip r:embed="rId2"/>
              <a:stretch>
                <a:fillRect l="0" t="-577" r="0" b="-57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9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97538" y="2244192"/>
            <a:ext cx="13292924" cy="8426840"/>
            <a:chOff x="0" y="0"/>
            <a:chExt cx="2815811" cy="17850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785039"/>
            </a:xfrm>
            <a:custGeom>
              <a:avLst/>
              <a:gdLst/>
              <a:ahLst/>
              <a:cxnLst/>
              <a:rect r="r" b="b" t="t" l="l"/>
              <a:pathLst>
                <a:path h="1785039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785039"/>
                  </a:lnTo>
                  <a:lnTo>
                    <a:pt x="0" y="1785039"/>
                  </a:lnTo>
                  <a:close/>
                </a:path>
              </a:pathLst>
            </a:custGeom>
            <a:blipFill>
              <a:blip r:embed="rId2"/>
              <a:stretch>
                <a:fillRect l="0" t="-84" r="0" b="-84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28468" y="2295245"/>
            <a:ext cx="15831065" cy="7147828"/>
            <a:chOff x="0" y="0"/>
            <a:chExt cx="2815811" cy="127135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271357"/>
            </a:xfrm>
            <a:custGeom>
              <a:avLst/>
              <a:gdLst/>
              <a:ahLst/>
              <a:cxnLst/>
              <a:rect r="r" b="b" t="t" l="l"/>
              <a:pathLst>
                <a:path h="1271357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271357"/>
                  </a:lnTo>
                  <a:lnTo>
                    <a:pt x="0" y="1271357"/>
                  </a:lnTo>
                  <a:close/>
                </a:path>
              </a:pathLst>
            </a:custGeom>
            <a:blipFill>
              <a:blip r:embed="rId2"/>
              <a:stretch>
                <a:fillRect l="-28" t="0" r="-28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11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242368" y="2295245"/>
            <a:ext cx="13803263" cy="7991755"/>
            <a:chOff x="0" y="0"/>
            <a:chExt cx="2815811" cy="163028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630287"/>
            </a:xfrm>
            <a:custGeom>
              <a:avLst/>
              <a:gdLst/>
              <a:ahLst/>
              <a:cxnLst/>
              <a:rect r="r" b="b" t="t" l="l"/>
              <a:pathLst>
                <a:path h="1630287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630287"/>
                  </a:lnTo>
                  <a:lnTo>
                    <a:pt x="0" y="1630287"/>
                  </a:lnTo>
                  <a:close/>
                </a:path>
              </a:pathLst>
            </a:custGeom>
            <a:blipFill>
              <a:blip r:embed="rId2"/>
              <a:stretch>
                <a:fillRect l="-236" t="0" r="-236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12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56877" y="2295245"/>
            <a:ext cx="14374246" cy="7332602"/>
            <a:chOff x="0" y="0"/>
            <a:chExt cx="2815811" cy="14364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436404"/>
            </a:xfrm>
            <a:custGeom>
              <a:avLst/>
              <a:gdLst/>
              <a:ahLst/>
              <a:cxnLst/>
              <a:rect r="r" b="b" t="t" l="l"/>
              <a:pathLst>
                <a:path h="1436404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436404"/>
                  </a:lnTo>
                  <a:lnTo>
                    <a:pt x="0" y="1436404"/>
                  </a:lnTo>
                  <a:close/>
                </a:path>
              </a:pathLst>
            </a:custGeom>
            <a:blipFill>
              <a:blip r:embed="rId2"/>
              <a:stretch>
                <a:fillRect l="0" t="-233" r="0" b="-23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13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69483" y="2295245"/>
            <a:ext cx="14749035" cy="8165337"/>
            <a:chOff x="0" y="0"/>
            <a:chExt cx="2815811" cy="15588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558885"/>
            </a:xfrm>
            <a:custGeom>
              <a:avLst/>
              <a:gdLst/>
              <a:ahLst/>
              <a:cxnLst/>
              <a:rect r="r" b="b" t="t" l="l"/>
              <a:pathLst>
                <a:path h="1558885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558885"/>
                  </a:lnTo>
                  <a:lnTo>
                    <a:pt x="0" y="1558885"/>
                  </a:lnTo>
                  <a:close/>
                </a:path>
              </a:pathLst>
            </a:custGeom>
            <a:blipFill>
              <a:blip r:embed="rId2"/>
              <a:stretch>
                <a:fillRect l="0" t="-2269" r="0" b="-226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238341" y="2295245"/>
            <a:ext cx="13811318" cy="6963055"/>
            <a:chOff x="0" y="0"/>
            <a:chExt cx="2815811" cy="141960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419607"/>
            </a:xfrm>
            <a:custGeom>
              <a:avLst/>
              <a:gdLst/>
              <a:ahLst/>
              <a:cxnLst/>
              <a:rect r="r" b="b" t="t" l="l"/>
              <a:pathLst>
                <a:path h="1419607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419607"/>
                  </a:lnTo>
                  <a:lnTo>
                    <a:pt x="0" y="1419607"/>
                  </a:lnTo>
                  <a:close/>
                </a:path>
              </a:pathLst>
            </a:custGeom>
            <a:blipFill>
              <a:blip r:embed="rId2"/>
              <a:stretch>
                <a:fillRect l="0" t="-1943" r="0" b="-194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15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433025" y="2400235"/>
            <a:ext cx="11421950" cy="7886765"/>
            <a:chOff x="0" y="0"/>
            <a:chExt cx="2815811" cy="19442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944295"/>
            </a:xfrm>
            <a:custGeom>
              <a:avLst/>
              <a:gdLst/>
              <a:ahLst/>
              <a:cxnLst/>
              <a:rect r="r" b="b" t="t" l="l"/>
              <a:pathLst>
                <a:path h="1944295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944295"/>
                  </a:lnTo>
                  <a:lnTo>
                    <a:pt x="0" y="1944295"/>
                  </a:lnTo>
                  <a:close/>
                </a:path>
              </a:pathLst>
            </a:custGeom>
            <a:blipFill>
              <a:blip r:embed="rId2"/>
              <a:stretch>
                <a:fillRect l="0" t="-597" r="0" b="-59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16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492420" y="2930126"/>
            <a:ext cx="6437816" cy="4426749"/>
          </a:xfrm>
          <a:custGeom>
            <a:avLst/>
            <a:gdLst/>
            <a:ahLst/>
            <a:cxnLst/>
            <a:rect r="r" b="b" t="t" l="l"/>
            <a:pathLst>
              <a:path h="4426749" w="6437816">
                <a:moveTo>
                  <a:pt x="0" y="0"/>
                </a:moveTo>
                <a:lnTo>
                  <a:pt x="6437815" y="0"/>
                </a:lnTo>
                <a:lnTo>
                  <a:pt x="6437815" y="4426748"/>
                </a:lnTo>
                <a:lnTo>
                  <a:pt x="0" y="44267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95" t="0" r="-299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825835" y="3137453"/>
            <a:ext cx="5796511" cy="1354625"/>
          </a:xfrm>
          <a:custGeom>
            <a:avLst/>
            <a:gdLst/>
            <a:ahLst/>
            <a:cxnLst/>
            <a:rect r="r" b="b" t="t" l="l"/>
            <a:pathLst>
              <a:path h="1354625" w="5796511">
                <a:moveTo>
                  <a:pt x="0" y="0"/>
                </a:moveTo>
                <a:lnTo>
                  <a:pt x="5796511" y="0"/>
                </a:lnTo>
                <a:lnTo>
                  <a:pt x="5796511" y="1354625"/>
                </a:lnTo>
                <a:lnTo>
                  <a:pt x="0" y="1354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201" t="-23037" r="-26437" b="-3348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26698" y="2407463"/>
            <a:ext cx="7425121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1"/>
              </a:lnSpc>
            </a:pPr>
            <a:r>
              <a:rPr lang="en-US" sz="5599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6698" y="3458730"/>
            <a:ext cx="8757628" cy="326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Digitalisation et automatisation réussies des processus de gestion pour garantir un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 fiabilité totale des données et une rentabilité optimale du club.</a:t>
            </a:r>
          </a:p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Architecture robuste et évolutive offrant une solution métier sécurisée, prête à intégrer de futures innovations technologiques comme la biométrie.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17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368367" y="3654033"/>
            <a:ext cx="4812609" cy="4786358"/>
          </a:xfrm>
          <a:custGeom>
            <a:avLst/>
            <a:gdLst/>
            <a:ahLst/>
            <a:cxnLst/>
            <a:rect r="r" b="b" t="t" l="l"/>
            <a:pathLst>
              <a:path h="4786358" w="4812609">
                <a:moveTo>
                  <a:pt x="0" y="0"/>
                </a:moveTo>
                <a:lnTo>
                  <a:pt x="4812609" y="0"/>
                </a:lnTo>
                <a:lnTo>
                  <a:pt x="4812609" y="4786359"/>
                </a:lnTo>
                <a:lnTo>
                  <a:pt x="0" y="47863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190659" y="1387716"/>
            <a:ext cx="7831454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PERSPECTIVE FUTURE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62025" y="3823329"/>
            <a:ext cx="2578734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MOBILE APP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17518" y="2149711"/>
            <a:ext cx="8852964" cy="352246"/>
            <a:chOff x="0" y="0"/>
            <a:chExt cx="2331645" cy="927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329391" y="4459726"/>
            <a:ext cx="3444003" cy="1263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Application client pour consulter son statut et ses avantages.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62025" y="6540980"/>
            <a:ext cx="2955493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ANALYTICS AI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9391" y="7177377"/>
            <a:ext cx="3444003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Préd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iction des désabonnements basée sur la fréquence de visite.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454747" y="3823329"/>
            <a:ext cx="2578734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BIOMÉTRIE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022113" y="4459726"/>
            <a:ext cx="3444003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Intégr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ation d'un système de pointage par empreinte digitale.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331590" y="6540980"/>
            <a:ext cx="5268395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EXPANSION STRATÉGIQUE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771651" y="7177377"/>
            <a:ext cx="4102886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API ouvert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 pour connecter d’autres services (paiement, CRM, marketing).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18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AAD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182017" y="4063522"/>
            <a:ext cx="11923966" cy="1563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60"/>
              </a:lnSpc>
            </a:pPr>
            <a:r>
              <a:rPr lang="en-US" b="true" sz="12023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MARCI!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652409" y="5626566"/>
            <a:ext cx="6983181" cy="669188"/>
            <a:chOff x="0" y="0"/>
            <a:chExt cx="1839192" cy="17624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39192" cy="176247"/>
            </a:xfrm>
            <a:custGeom>
              <a:avLst/>
              <a:gdLst/>
              <a:ahLst/>
              <a:cxnLst/>
              <a:rect r="r" b="b" t="t" l="l"/>
              <a:pathLst>
                <a:path h="176247" w="1839192">
                  <a:moveTo>
                    <a:pt x="0" y="0"/>
                  </a:moveTo>
                  <a:lnTo>
                    <a:pt x="1839192" y="0"/>
                  </a:lnTo>
                  <a:lnTo>
                    <a:pt x="1839192" y="176247"/>
                  </a:lnTo>
                  <a:lnTo>
                    <a:pt x="0" y="176247"/>
                  </a:lnTo>
                  <a:close/>
                </a:path>
              </a:pathLst>
            </a:custGeom>
            <a:solidFill>
              <a:srgbClr val="AAD7D4"/>
            </a:solidFill>
            <a:ln w="28575" cap="sq">
              <a:solidFill>
                <a:srgbClr val="1C2120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39192" cy="2143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QUESTION?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</a:blip>
            <a:stretch>
              <a:fillRect l="0" t="-9467" r="0" b="-946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86640" y="3776756"/>
            <a:ext cx="13114720" cy="1992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61"/>
              </a:lnSpc>
            </a:pPr>
            <a:r>
              <a:rPr lang="en-US" b="true" sz="8525" spc="-460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SYSTÈME DE GESTION DES MEMBRES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70072" y="224981"/>
            <a:ext cx="3838575" cy="1228725"/>
            <a:chOff x="0" y="0"/>
            <a:chExt cx="5118100" cy="1638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118100" cy="1638300"/>
            </a:xfrm>
            <a:custGeom>
              <a:avLst/>
              <a:gdLst/>
              <a:ahLst/>
              <a:cxnLst/>
              <a:rect r="r" b="b" t="t" l="l"/>
              <a:pathLst>
                <a:path h="1638300" w="5118100">
                  <a:moveTo>
                    <a:pt x="0" y="0"/>
                  </a:moveTo>
                  <a:lnTo>
                    <a:pt x="5118100" y="0"/>
                  </a:lnTo>
                  <a:lnTo>
                    <a:pt x="5118100" y="1638300"/>
                  </a:lnTo>
                  <a:lnTo>
                    <a:pt x="0" y="1638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4031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8496300"/>
            <a:ext cx="3556454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Présenté par :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Assma Raji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181601" y="622935"/>
            <a:ext cx="6304657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 spc="-95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Filière : Ingénierie Informatique et Réseaux (3IIR)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605311" y="8496300"/>
            <a:ext cx="383698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Supervisé par</a:t>
            </a: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: 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Pr.GHAZOUANI Mohamed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322981" y="5759345"/>
            <a:ext cx="7164685" cy="661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22"/>
              </a:lnSpc>
              <a:spcBef>
                <a:spcPct val="0"/>
              </a:spcBef>
            </a:pP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</a:t>
            </a: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ojet : GymClub Manager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DAHJHp18_8w</dc:identifier>
  <dcterms:modified xsi:type="dcterms:W3CDTF">2011-08-01T06:04:30Z</dcterms:modified>
  <cp:revision>1</cp:revision>
  <dc:title>ppt-assma raji</dc:title>
</cp:coreProperties>
</file>