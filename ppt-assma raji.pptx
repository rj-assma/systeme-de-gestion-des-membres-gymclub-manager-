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x="18288000" cy="10287000"/>
  <p:notesSz cx="6858000" cy="9144000"/>
  <p:embeddedFontLst>
    <p:embeddedFont>
      <p:font typeface="Poppins Semi-Bold" charset="1" panose="00000700000000000000"/>
      <p:regular r:id="rId28"/>
    </p:embeddedFont>
    <p:embeddedFont>
      <p:font typeface="Calibri (MS) Bold" charset="1" panose="020F0702030404030204"/>
      <p:regular r:id="rId29"/>
    </p:embeddedFont>
    <p:embeddedFont>
      <p:font typeface="Inter" charset="1" panose="02000503000000020004"/>
      <p:regular r:id="rId30"/>
    </p:embeddedFont>
    <p:embeddedFont>
      <p:font typeface="Poppins" charset="1" panose="00000500000000000000"/>
      <p:regular r:id="rId31"/>
    </p:embeddedFont>
    <p:embeddedFont>
      <p:font typeface="Poppins Bold" charset="1" panose="00000800000000000000"/>
      <p:regular r:id="rId32"/>
    </p:embeddedFont>
    <p:embeddedFont>
      <p:font typeface="DM Sans" charset="1" panose="00000000000000000000"/>
      <p:regular r:id="rId33"/>
    </p:embeddedFont>
    <p:embeddedFont>
      <p:font typeface="DM Sans Bold" charset="1" panose="00000000000000000000"/>
      <p:regular r:id="rId34"/>
    </p:embeddedFont>
    <p:embeddedFont>
      <p:font typeface="Open Sans Bold" charset="1" panose="020B0806030504020204"/>
      <p:regular r:id="rId35"/>
    </p:embeddedFont>
    <p:embeddedFont>
      <p:font typeface="Arimo" charset="1" panose="020B0604020202020204"/>
      <p:regular r:id="rId36"/>
    </p:embeddedFont>
    <p:embeddedFont>
      <p:font typeface="Public Sans" charset="1" panose="00000000000000000000"/>
      <p:regular r:id="rId37"/>
    </p:embeddedFont>
    <p:embeddedFont>
      <p:font typeface="Open Sans Light" charset="1" panose="020B0306030504020204"/>
      <p:regular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31" Target="fonts/font31.fntdata" Type="http://schemas.openxmlformats.org/officeDocument/2006/relationships/font"/><Relationship Id="rId32" Target="fonts/font32.fntdata" Type="http://schemas.openxmlformats.org/officeDocument/2006/relationships/font"/><Relationship Id="rId33" Target="fonts/font33.fntdata" Type="http://schemas.openxmlformats.org/officeDocument/2006/relationships/font"/><Relationship Id="rId34" Target="fonts/font34.fntdata" Type="http://schemas.openxmlformats.org/officeDocument/2006/relationships/font"/><Relationship Id="rId35" Target="fonts/font35.fntdata" Type="http://schemas.openxmlformats.org/officeDocument/2006/relationships/font"/><Relationship Id="rId36" Target="fonts/font36.fntdata" Type="http://schemas.openxmlformats.org/officeDocument/2006/relationships/font"/><Relationship Id="rId37" Target="fonts/font37.fntdata" Type="http://schemas.openxmlformats.org/officeDocument/2006/relationships/font"/><Relationship Id="rId38" Target="fonts/font38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11.png" Type="http://schemas.openxmlformats.org/officeDocument/2006/relationships/image"/><Relationship Id="rId5" Target="../media/image12.svg" Type="http://schemas.openxmlformats.org/officeDocument/2006/relationships/image"/><Relationship Id="rId6" Target="../media/image13.png" Type="http://schemas.openxmlformats.org/officeDocument/2006/relationships/image"/><Relationship Id="rId7" Target="../media/image14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5.png" Type="http://schemas.openxmlformats.org/officeDocument/2006/relationships/image"/><Relationship Id="rId3" Target="../media/image26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7.png" Type="http://schemas.openxmlformats.org/officeDocument/2006/relationships/image"/><Relationship Id="rId3" Target="../media/image28.sv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101622" y="-767350"/>
            <a:ext cx="22013892" cy="12354774"/>
          </a:xfrm>
          <a:custGeom>
            <a:avLst/>
            <a:gdLst/>
            <a:ahLst/>
            <a:cxnLst/>
            <a:rect r="r" b="b" t="t" l="l"/>
            <a:pathLst>
              <a:path h="12354774" w="22013892">
                <a:moveTo>
                  <a:pt x="0" y="0"/>
                </a:moveTo>
                <a:lnTo>
                  <a:pt x="22013891" y="0"/>
                </a:lnTo>
                <a:lnTo>
                  <a:pt x="22013891" y="12354775"/>
                </a:lnTo>
                <a:lnTo>
                  <a:pt x="0" y="123547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2000"/>
            </a:blip>
            <a:stretch>
              <a:fillRect l="0" t="-9467" r="0" b="-9467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586640" y="3776756"/>
            <a:ext cx="13114720" cy="19921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61"/>
              </a:lnSpc>
            </a:pPr>
            <a:r>
              <a:rPr lang="en-US" b="true" sz="8525" spc="-460">
                <a:solidFill>
                  <a:srgbClr val="1C212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SYSTÈME DE GESTION DES MEMBRES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270072" y="224981"/>
            <a:ext cx="3838575" cy="1228725"/>
            <a:chOff x="0" y="0"/>
            <a:chExt cx="5118100" cy="16383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118100" cy="1638300"/>
            </a:xfrm>
            <a:custGeom>
              <a:avLst/>
              <a:gdLst/>
              <a:ahLst/>
              <a:cxnLst/>
              <a:rect r="r" b="b" t="t" l="l"/>
              <a:pathLst>
                <a:path h="1638300" w="5118100">
                  <a:moveTo>
                    <a:pt x="0" y="0"/>
                  </a:moveTo>
                  <a:lnTo>
                    <a:pt x="5118100" y="0"/>
                  </a:lnTo>
                  <a:lnTo>
                    <a:pt x="5118100" y="1638300"/>
                  </a:lnTo>
                  <a:lnTo>
                    <a:pt x="0" y="1638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-40310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28700" y="8496300"/>
            <a:ext cx="3556454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79"/>
              </a:lnSpc>
            </a:pPr>
            <a:r>
              <a:rPr lang="en-US" b="true" sz="24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Présenté par :</a:t>
            </a:r>
          </a:p>
          <a:p>
            <a:pPr algn="l" marL="518160" indent="-259080" lvl="1">
              <a:lnSpc>
                <a:spcPts val="2879"/>
              </a:lnSpc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Assma Raji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181601" y="622935"/>
            <a:ext cx="6304657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399" spc="-95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Filière : Ingénierie Informatique et Réseaux (3IIR)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605311" y="8496300"/>
            <a:ext cx="3836988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Supervisé par</a:t>
            </a:r>
            <a:r>
              <a:rPr lang="en-US" sz="2400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: </a:t>
            </a:r>
          </a:p>
          <a:p>
            <a:pPr algn="l" marL="518160" indent="-259080" lvl="1">
              <a:lnSpc>
                <a:spcPts val="2879"/>
              </a:lnSpc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Pr.GHAZOUANI Mohamed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322981" y="5759345"/>
            <a:ext cx="7164685" cy="6615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22"/>
              </a:lnSpc>
              <a:spcBef>
                <a:spcPct val="0"/>
              </a:spcBef>
            </a:pPr>
            <a:r>
              <a:rPr lang="en-US" sz="431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</a:t>
            </a:r>
            <a:r>
              <a:rPr lang="en-US" sz="431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ojet : GymClub Manager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5400000">
            <a:off x="-1451191" y="2685116"/>
            <a:ext cx="10287000" cy="4916769"/>
            <a:chOff x="0" y="0"/>
            <a:chExt cx="3443658" cy="164592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443658" cy="1645929"/>
            </a:xfrm>
            <a:custGeom>
              <a:avLst/>
              <a:gdLst/>
              <a:ahLst/>
              <a:cxnLst/>
              <a:rect r="r" b="b" t="t" l="l"/>
              <a:pathLst>
                <a:path h="1645929" w="3443658">
                  <a:moveTo>
                    <a:pt x="37630" y="0"/>
                  </a:moveTo>
                  <a:lnTo>
                    <a:pt x="3406029" y="0"/>
                  </a:lnTo>
                  <a:cubicBezTo>
                    <a:pt x="3426811" y="0"/>
                    <a:pt x="3443658" y="16847"/>
                    <a:pt x="3443658" y="37630"/>
                  </a:cubicBezTo>
                  <a:lnTo>
                    <a:pt x="3443658" y="1608299"/>
                  </a:lnTo>
                  <a:cubicBezTo>
                    <a:pt x="3443658" y="1618279"/>
                    <a:pt x="3439694" y="1627850"/>
                    <a:pt x="3432637" y="1634907"/>
                  </a:cubicBezTo>
                  <a:cubicBezTo>
                    <a:pt x="3425580" y="1641964"/>
                    <a:pt x="3416009" y="1645929"/>
                    <a:pt x="3406029" y="1645929"/>
                  </a:cubicBezTo>
                  <a:lnTo>
                    <a:pt x="37630" y="1645929"/>
                  </a:lnTo>
                  <a:cubicBezTo>
                    <a:pt x="27650" y="1645929"/>
                    <a:pt x="18078" y="1641964"/>
                    <a:pt x="11021" y="1634907"/>
                  </a:cubicBezTo>
                  <a:cubicBezTo>
                    <a:pt x="3965" y="1627850"/>
                    <a:pt x="0" y="1618279"/>
                    <a:pt x="0" y="1608299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85725"/>
              <a:ext cx="3443658" cy="15602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25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2417629" y="3187910"/>
            <a:ext cx="2549361" cy="11480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35"/>
              </a:lnSpc>
            </a:pPr>
            <a:r>
              <a:rPr lang="en-US" sz="818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Plan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8177239" y="2663037"/>
            <a:ext cx="612771" cy="306385"/>
            <a:chOff x="0" y="0"/>
            <a:chExt cx="812800" cy="4064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406400"/>
            </a:xfrm>
            <a:custGeom>
              <a:avLst/>
              <a:gdLst/>
              <a:ahLst/>
              <a:cxnLst/>
              <a:rect r="r" b="b" t="t" l="l"/>
              <a:pathLst>
                <a:path h="406400" w="8128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CFBD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177800" y="0"/>
              <a:ext cx="558800" cy="406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1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9463060" y="2672562"/>
            <a:ext cx="4274818" cy="3849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088"/>
              </a:lnSpc>
            </a:pPr>
            <a:r>
              <a:rPr lang="en-US" sz="2599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Contexte et Problématique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463060" y="3792146"/>
            <a:ext cx="3530456" cy="3849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088"/>
              </a:lnSpc>
            </a:pPr>
            <a:r>
              <a:rPr lang="en-US" sz="2599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Analyse et conception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463060" y="4999832"/>
            <a:ext cx="4963369" cy="3849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088"/>
              </a:lnSpc>
            </a:pPr>
            <a:r>
              <a:rPr lang="en-US" sz="2599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Architecture et Technologies 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463060" y="6106318"/>
            <a:ext cx="1649115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39"/>
              </a:lnSpc>
            </a:pPr>
            <a:r>
              <a:rPr lang="en-US" sz="2599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Réalisation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463060" y="7239001"/>
            <a:ext cx="4542957" cy="3849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088"/>
              </a:lnSpc>
            </a:pPr>
            <a:r>
              <a:rPr lang="en-US" sz="2599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Conclusion et perspective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8177239" y="6153943"/>
            <a:ext cx="612771" cy="306385"/>
            <a:chOff x="0" y="0"/>
            <a:chExt cx="812800" cy="4064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406400"/>
            </a:xfrm>
            <a:custGeom>
              <a:avLst/>
              <a:gdLst/>
              <a:ahLst/>
              <a:cxnLst/>
              <a:rect r="r" b="b" t="t" l="l"/>
              <a:pathLst>
                <a:path h="406400" w="8128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CFBD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177800" y="0"/>
              <a:ext cx="558800" cy="406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1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177239" y="4990307"/>
            <a:ext cx="612771" cy="306385"/>
            <a:chOff x="0" y="0"/>
            <a:chExt cx="812800" cy="4064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406400"/>
            </a:xfrm>
            <a:custGeom>
              <a:avLst/>
              <a:gdLst/>
              <a:ahLst/>
              <a:cxnLst/>
              <a:rect r="r" b="b" t="t" l="l"/>
              <a:pathLst>
                <a:path h="406400" w="8128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CFBD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177800" y="0"/>
              <a:ext cx="558800" cy="406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1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177239" y="3826672"/>
            <a:ext cx="612771" cy="306385"/>
            <a:chOff x="0" y="0"/>
            <a:chExt cx="812800" cy="4064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12800" cy="406400"/>
            </a:xfrm>
            <a:custGeom>
              <a:avLst/>
              <a:gdLst/>
              <a:ahLst/>
              <a:cxnLst/>
              <a:rect r="r" b="b" t="t" l="l"/>
              <a:pathLst>
                <a:path h="406400" w="8128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CFBD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177800" y="0"/>
              <a:ext cx="558800" cy="406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1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8177239" y="7317578"/>
            <a:ext cx="612771" cy="306385"/>
            <a:chOff x="0" y="0"/>
            <a:chExt cx="812800" cy="4064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12800" cy="406400"/>
            </a:xfrm>
            <a:custGeom>
              <a:avLst/>
              <a:gdLst/>
              <a:ahLst/>
              <a:cxnLst/>
              <a:rect r="r" b="b" t="t" l="l"/>
              <a:pathLst>
                <a:path h="406400" w="8128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CFBD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177800" y="0"/>
              <a:ext cx="558800" cy="406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1"/>
                </a:lnSpc>
              </a:pP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21396" y="1796596"/>
            <a:ext cx="15276420" cy="8713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84"/>
              </a:lnSpc>
            </a:pPr>
            <a:r>
              <a:rPr lang="en-US" sz="560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Contexte et Problématique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850713" y="4104322"/>
            <a:ext cx="11922889" cy="2040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240"/>
              </a:lnSpc>
              <a:buFont typeface="Arial"/>
              <a:buChar char="•"/>
            </a:pPr>
            <a:r>
              <a:rPr lang="en-US" sz="2400" spc="144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Le projet répond au besoin de modernisation des salles de sport face aux limites de la gestion manuelle.</a:t>
            </a:r>
          </a:p>
          <a:p>
            <a:pPr algn="l" marL="518160" indent="-259080" lvl="1">
              <a:lnSpc>
                <a:spcPts val="3240"/>
              </a:lnSpc>
              <a:buFont typeface="Arial"/>
              <a:buChar char="•"/>
            </a:pPr>
            <a:r>
              <a:rPr lang="en-US" sz="2400" spc="144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L'obje</a:t>
            </a:r>
            <a:r>
              <a:rPr lang="en-US" sz="2400" spc="144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ctif est d'offrir un outil centralisé pour le suivi rigoureux des inscriptions, des paiements et des accès membres.</a:t>
            </a:r>
          </a:p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</a:p>
        </p:txBody>
      </p:sp>
      <p:grpSp>
        <p:nvGrpSpPr>
          <p:cNvPr name="Group 4" id="4"/>
          <p:cNvGrpSpPr/>
          <p:nvPr/>
        </p:nvGrpSpPr>
        <p:grpSpPr>
          <a:xfrm rot="0">
            <a:off x="1821396" y="2883802"/>
            <a:ext cx="10461121" cy="352838"/>
            <a:chOff x="0" y="0"/>
            <a:chExt cx="2755192" cy="9292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755192" cy="92928"/>
            </a:xfrm>
            <a:custGeom>
              <a:avLst/>
              <a:gdLst/>
              <a:ahLst/>
              <a:cxnLst/>
              <a:rect r="r" b="b" t="t" l="l"/>
              <a:pathLst>
                <a:path h="92928" w="2755192">
                  <a:moveTo>
                    <a:pt x="37743" y="0"/>
                  </a:moveTo>
                  <a:lnTo>
                    <a:pt x="2717449" y="0"/>
                  </a:lnTo>
                  <a:cubicBezTo>
                    <a:pt x="2727459" y="0"/>
                    <a:pt x="2737059" y="3977"/>
                    <a:pt x="2744138" y="11055"/>
                  </a:cubicBezTo>
                  <a:cubicBezTo>
                    <a:pt x="2751216" y="18133"/>
                    <a:pt x="2755192" y="27733"/>
                    <a:pt x="2755192" y="37743"/>
                  </a:cubicBezTo>
                  <a:lnTo>
                    <a:pt x="2755192" y="55185"/>
                  </a:lnTo>
                  <a:cubicBezTo>
                    <a:pt x="2755192" y="65195"/>
                    <a:pt x="2751216" y="74795"/>
                    <a:pt x="2744138" y="81874"/>
                  </a:cubicBezTo>
                  <a:cubicBezTo>
                    <a:pt x="2737059" y="88952"/>
                    <a:pt x="2727459" y="92928"/>
                    <a:pt x="2717449" y="92928"/>
                  </a:cubicBezTo>
                  <a:lnTo>
                    <a:pt x="37743" y="92928"/>
                  </a:lnTo>
                  <a:cubicBezTo>
                    <a:pt x="27733" y="92928"/>
                    <a:pt x="18133" y="88952"/>
                    <a:pt x="11055" y="81874"/>
                  </a:cubicBezTo>
                  <a:cubicBezTo>
                    <a:pt x="3977" y="74795"/>
                    <a:pt x="0" y="65195"/>
                    <a:pt x="0" y="55185"/>
                  </a:cubicBezTo>
                  <a:lnTo>
                    <a:pt x="0" y="37743"/>
                  </a:lnTo>
                  <a:cubicBezTo>
                    <a:pt x="0" y="27733"/>
                    <a:pt x="3977" y="18133"/>
                    <a:pt x="11055" y="11055"/>
                  </a:cubicBezTo>
                  <a:cubicBezTo>
                    <a:pt x="18133" y="3977"/>
                    <a:pt x="27733" y="0"/>
                    <a:pt x="37743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2755192" cy="1310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3080450" y="6363652"/>
            <a:ext cx="10508325" cy="7275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  <a:spcBef>
                <a:spcPct val="0"/>
              </a:spcBef>
            </a:pPr>
            <a:r>
              <a:rPr lang="en-US" b="true" sz="2400">
                <a:solidFill>
                  <a:srgbClr val="028E38"/>
                </a:solidFill>
                <a:latin typeface="DM Sans Bold"/>
                <a:ea typeface="DM Sans Bold"/>
                <a:cs typeface="DM Sans Bold"/>
                <a:sym typeface="DM Sans Bold"/>
              </a:rPr>
              <a:t>Enjeu :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Éliminer les erreurs humaines et automatiser le calcul des dates d'expiration pour une rentabilité optimale.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1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900788" y="4272153"/>
            <a:ext cx="8486424" cy="8713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84"/>
              </a:lnSpc>
            </a:pPr>
            <a:r>
              <a:rPr lang="en-US" sz="560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Analyse et conception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4717518" y="5359853"/>
            <a:ext cx="8852964" cy="352246"/>
            <a:chOff x="0" y="0"/>
            <a:chExt cx="2331645" cy="9277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4717518" y="6086903"/>
            <a:ext cx="9346651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Étude des besoins fonctionnels et modélisation du système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2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027042" y="1454849"/>
            <a:ext cx="8881711" cy="8043855"/>
            <a:chOff x="0" y="0"/>
            <a:chExt cx="2275169" cy="206054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75169" cy="2060541"/>
            </a:xfrm>
            <a:custGeom>
              <a:avLst/>
              <a:gdLst/>
              <a:ahLst/>
              <a:cxnLst/>
              <a:rect r="r" b="b" t="t" l="l"/>
              <a:pathLst>
                <a:path h="2060541" w="2275169">
                  <a:moveTo>
                    <a:pt x="0" y="0"/>
                  </a:moveTo>
                  <a:lnTo>
                    <a:pt x="2275169" y="0"/>
                  </a:lnTo>
                  <a:lnTo>
                    <a:pt x="2275169" y="2060541"/>
                  </a:lnTo>
                  <a:lnTo>
                    <a:pt x="0" y="2060541"/>
                  </a:lnTo>
                  <a:close/>
                </a:path>
              </a:pathLst>
            </a:custGeom>
            <a:blipFill>
              <a:blip r:embed="rId2"/>
              <a:stretch>
                <a:fillRect l="0" t="-475" r="0" b="-475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1705310" y="2630078"/>
            <a:ext cx="5709608" cy="4497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240"/>
              </a:lnSpc>
              <a:buFont typeface="Arial"/>
              <a:buChar char="•"/>
            </a:pPr>
            <a:r>
              <a:rPr lang="en-US" b="true" sz="2400" spc="144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Réceptionniste </a:t>
            </a:r>
            <a:r>
              <a:rPr lang="en-US" sz="2400" spc="144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: Gestion quotidienne (Inscriptions, paiements, recherche, consultation des expirations).</a:t>
            </a:r>
          </a:p>
          <a:p>
            <a:pPr algn="l" marL="518160" indent="-259080" lvl="1">
              <a:lnSpc>
                <a:spcPts val="3240"/>
              </a:lnSpc>
              <a:buFont typeface="Arial"/>
              <a:buChar char="•"/>
            </a:pPr>
            <a:r>
              <a:rPr lang="en-US" b="true" sz="2400" spc="144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Administrateur </a:t>
            </a:r>
            <a:r>
              <a:rPr lang="en-US" sz="2400" spc="144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: Contrôle total sur le catalogue d'abonnements et les réglages système.</a:t>
            </a:r>
          </a:p>
          <a:p>
            <a:pPr algn="l" marL="518160" indent="-259080" lvl="1">
              <a:lnSpc>
                <a:spcPts val="324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400" spc="144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Sécurité </a:t>
            </a:r>
            <a:r>
              <a:rPr lang="en-US" sz="2400" spc="144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: Authentification obligatoire pour l’admin pour accéder aux fonctionnalités critiques.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74138" y="1009650"/>
            <a:ext cx="15276420" cy="8713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84"/>
              </a:lnSpc>
            </a:pPr>
            <a:r>
              <a:rPr lang="en-US" sz="560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Diagramme Use case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274138" y="2096857"/>
            <a:ext cx="8852964" cy="352246"/>
            <a:chOff x="0" y="0"/>
            <a:chExt cx="2331645" cy="9277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6444072" y="-112489"/>
            <a:ext cx="796178" cy="1141189"/>
            <a:chOff x="0" y="0"/>
            <a:chExt cx="381000" cy="5461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3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21396" y="1796596"/>
            <a:ext cx="15276420" cy="8713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84"/>
              </a:lnSpc>
            </a:pPr>
            <a:r>
              <a:rPr lang="en-US" sz="560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Les acteurs de system 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821396" y="2883802"/>
            <a:ext cx="8852964" cy="352246"/>
            <a:chOff x="0" y="0"/>
            <a:chExt cx="2331645" cy="9277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4198730" y="3792829"/>
            <a:ext cx="1414301" cy="1291733"/>
          </a:xfrm>
          <a:custGeom>
            <a:avLst/>
            <a:gdLst/>
            <a:ahLst/>
            <a:cxnLst/>
            <a:rect r="r" b="b" t="t" l="l"/>
            <a:pathLst>
              <a:path h="1291733" w="1414301">
                <a:moveTo>
                  <a:pt x="0" y="0"/>
                </a:moveTo>
                <a:lnTo>
                  <a:pt x="1414301" y="0"/>
                </a:lnTo>
                <a:lnTo>
                  <a:pt x="1414301" y="1291733"/>
                </a:lnTo>
                <a:lnTo>
                  <a:pt x="0" y="129173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2615708" y="5641353"/>
            <a:ext cx="13056441" cy="36986"/>
          </a:xfrm>
          <a:custGeom>
            <a:avLst/>
            <a:gdLst/>
            <a:ahLst/>
            <a:cxnLst/>
            <a:rect r="r" b="b" t="t" l="l"/>
            <a:pathLst>
              <a:path h="36986" w="13056441">
                <a:moveTo>
                  <a:pt x="0" y="0"/>
                </a:moveTo>
                <a:lnTo>
                  <a:pt x="13056441" y="0"/>
                </a:lnTo>
                <a:lnTo>
                  <a:pt x="13056441" y="36985"/>
                </a:lnTo>
                <a:lnTo>
                  <a:pt x="0" y="3698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4198730" y="3792829"/>
            <a:ext cx="1412348" cy="1291733"/>
            <a:chOff x="0" y="0"/>
            <a:chExt cx="1412354" cy="129173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63500" y="63500"/>
              <a:ext cx="1285369" cy="1164715"/>
            </a:xfrm>
            <a:custGeom>
              <a:avLst/>
              <a:gdLst/>
              <a:ahLst/>
              <a:cxnLst/>
              <a:rect r="r" b="b" t="t" l="l"/>
              <a:pathLst>
                <a:path h="1164715" w="1285369">
                  <a:moveTo>
                    <a:pt x="0" y="1164715"/>
                  </a:moveTo>
                  <a:lnTo>
                    <a:pt x="1285369" y="1164715"/>
                  </a:lnTo>
                  <a:lnTo>
                    <a:pt x="128536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405893" y="372109"/>
              <a:ext cx="612268" cy="521080"/>
            </a:xfrm>
            <a:custGeom>
              <a:avLst/>
              <a:gdLst/>
              <a:ahLst/>
              <a:cxnLst/>
              <a:rect r="r" b="b" t="t" l="l"/>
              <a:pathLst>
                <a:path h="521080" w="612268">
                  <a:moveTo>
                    <a:pt x="0" y="521080"/>
                  </a:moveTo>
                  <a:lnTo>
                    <a:pt x="612268" y="521080"/>
                  </a:lnTo>
                  <a:lnTo>
                    <a:pt x="6122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2615775" y="5641343"/>
            <a:ext cx="13056460" cy="37005"/>
            <a:chOff x="0" y="0"/>
            <a:chExt cx="13056464" cy="3700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3056495" cy="36963"/>
            </a:xfrm>
            <a:custGeom>
              <a:avLst/>
              <a:gdLst/>
              <a:ahLst/>
              <a:cxnLst/>
              <a:rect r="r" b="b" t="t" l="l"/>
              <a:pathLst>
                <a:path h="36963" w="13056495">
                  <a:moveTo>
                    <a:pt x="0" y="36963"/>
                  </a:moveTo>
                  <a:lnTo>
                    <a:pt x="13056495" y="36963"/>
                  </a:lnTo>
                  <a:lnTo>
                    <a:pt x="1305649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3088853" y="5092443"/>
            <a:ext cx="3632103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00">
                <a:solidFill>
                  <a:srgbClr val="3F3F3F"/>
                </a:solidFill>
                <a:latin typeface="Arimo"/>
                <a:ea typeface="Arimo"/>
                <a:cs typeface="Arimo"/>
                <a:sym typeface="Arimo"/>
              </a:rPr>
              <a:t>Gestionnaire du Club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028639" y="5092443"/>
            <a:ext cx="2363788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00">
                <a:solidFill>
                  <a:srgbClr val="3F3F3F"/>
                </a:solidFill>
                <a:latin typeface="Arimo"/>
                <a:ea typeface="Arimo"/>
                <a:cs typeface="Arimo"/>
                <a:sym typeface="Arimo"/>
              </a:rPr>
              <a:t>Réceptionniste 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993008" y="5811698"/>
            <a:ext cx="4292444" cy="2855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Acteur central des opérations quotidiennes : inscription des membres, encaissement des paiements et vérification des statuts d'accès.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134017" y="5811698"/>
            <a:ext cx="5269511" cy="2379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Responsable du pilotage stratégique : gestion du catalogue d'abonnements, audit des transactions et gestion des comptes utilisateurs.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11504359" y="3792829"/>
            <a:ext cx="1414301" cy="1291733"/>
          </a:xfrm>
          <a:custGeom>
            <a:avLst/>
            <a:gdLst/>
            <a:ahLst/>
            <a:cxnLst/>
            <a:rect r="r" b="b" t="t" l="l"/>
            <a:pathLst>
              <a:path h="1291733" w="1414301">
                <a:moveTo>
                  <a:pt x="0" y="0"/>
                </a:moveTo>
                <a:lnTo>
                  <a:pt x="1414300" y="0"/>
                </a:lnTo>
                <a:lnTo>
                  <a:pt x="1414300" y="1291733"/>
                </a:lnTo>
                <a:lnTo>
                  <a:pt x="0" y="129173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0">
            <a:off x="11504359" y="3792829"/>
            <a:ext cx="1412348" cy="1291733"/>
            <a:chOff x="0" y="0"/>
            <a:chExt cx="1412354" cy="129173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63500" y="63500"/>
              <a:ext cx="1285369" cy="1164715"/>
            </a:xfrm>
            <a:custGeom>
              <a:avLst/>
              <a:gdLst/>
              <a:ahLst/>
              <a:cxnLst/>
              <a:rect r="r" b="b" t="t" l="l"/>
              <a:pathLst>
                <a:path h="1164715" w="1285369">
                  <a:moveTo>
                    <a:pt x="0" y="1164715"/>
                  </a:moveTo>
                  <a:lnTo>
                    <a:pt x="1285369" y="1164715"/>
                  </a:lnTo>
                  <a:lnTo>
                    <a:pt x="128536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405893" y="372109"/>
              <a:ext cx="612268" cy="521080"/>
            </a:xfrm>
            <a:custGeom>
              <a:avLst/>
              <a:gdLst/>
              <a:ahLst/>
              <a:cxnLst/>
              <a:rect r="r" b="b" t="t" l="l"/>
              <a:pathLst>
                <a:path h="521080" w="612268">
                  <a:moveTo>
                    <a:pt x="0" y="521080"/>
                  </a:moveTo>
                  <a:lnTo>
                    <a:pt x="612268" y="521080"/>
                  </a:lnTo>
                  <a:lnTo>
                    <a:pt x="6122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083818" y="2449103"/>
            <a:ext cx="13466740" cy="7393529"/>
            <a:chOff x="0" y="0"/>
            <a:chExt cx="3790812" cy="208123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790812" cy="2081237"/>
            </a:xfrm>
            <a:custGeom>
              <a:avLst/>
              <a:gdLst/>
              <a:ahLst/>
              <a:cxnLst/>
              <a:rect r="r" b="b" t="t" l="l"/>
              <a:pathLst>
                <a:path h="2081237" w="3790812">
                  <a:moveTo>
                    <a:pt x="0" y="0"/>
                  </a:moveTo>
                  <a:lnTo>
                    <a:pt x="3790812" y="0"/>
                  </a:lnTo>
                  <a:lnTo>
                    <a:pt x="3790812" y="2081237"/>
                  </a:lnTo>
                  <a:lnTo>
                    <a:pt x="0" y="2081237"/>
                  </a:lnTo>
                  <a:close/>
                </a:path>
              </a:pathLst>
            </a:custGeom>
            <a:blipFill>
              <a:blip r:embed="rId2"/>
              <a:stretch>
                <a:fillRect l="-1007" t="0" r="-1007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1274138" y="1009650"/>
            <a:ext cx="15276420" cy="8713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84"/>
              </a:lnSpc>
            </a:pPr>
            <a:r>
              <a:rPr lang="en-US" sz="560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Diagramme de classe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274138" y="2096857"/>
            <a:ext cx="8852964" cy="352246"/>
            <a:chOff x="0" y="0"/>
            <a:chExt cx="2331645" cy="9277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6444072" y="-112489"/>
            <a:ext cx="796178" cy="1141189"/>
            <a:chOff x="0" y="0"/>
            <a:chExt cx="381000" cy="5461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5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717518" y="2096857"/>
            <a:ext cx="8852964" cy="352246"/>
            <a:chOff x="0" y="0"/>
            <a:chExt cx="2331645" cy="9277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2466668" y="5775895"/>
            <a:ext cx="4795587" cy="2128485"/>
            <a:chOff x="0" y="0"/>
            <a:chExt cx="1605362" cy="71252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05362" cy="712528"/>
            </a:xfrm>
            <a:custGeom>
              <a:avLst/>
              <a:gdLst/>
              <a:ahLst/>
              <a:cxnLst/>
              <a:rect r="r" b="b" t="t" l="l"/>
              <a:pathLst>
                <a:path h="712528" w="1605362">
                  <a:moveTo>
                    <a:pt x="80719" y="0"/>
                  </a:moveTo>
                  <a:lnTo>
                    <a:pt x="1524643" y="0"/>
                  </a:lnTo>
                  <a:cubicBezTo>
                    <a:pt x="1569223" y="0"/>
                    <a:pt x="1605362" y="36139"/>
                    <a:pt x="1605362" y="80719"/>
                  </a:cubicBezTo>
                  <a:lnTo>
                    <a:pt x="1605362" y="631809"/>
                  </a:lnTo>
                  <a:cubicBezTo>
                    <a:pt x="1605362" y="653217"/>
                    <a:pt x="1596858" y="673748"/>
                    <a:pt x="1581720" y="688886"/>
                  </a:cubicBezTo>
                  <a:cubicBezTo>
                    <a:pt x="1566582" y="704024"/>
                    <a:pt x="1546051" y="712528"/>
                    <a:pt x="1524643" y="712528"/>
                  </a:cubicBezTo>
                  <a:lnTo>
                    <a:pt x="80719" y="712528"/>
                  </a:lnTo>
                  <a:cubicBezTo>
                    <a:pt x="36139" y="712528"/>
                    <a:pt x="0" y="676389"/>
                    <a:pt x="0" y="631809"/>
                  </a:cubicBezTo>
                  <a:lnTo>
                    <a:pt x="0" y="80719"/>
                  </a:lnTo>
                  <a:cubicBezTo>
                    <a:pt x="0" y="59311"/>
                    <a:pt x="8504" y="38780"/>
                    <a:pt x="23642" y="23642"/>
                  </a:cubicBezTo>
                  <a:cubicBezTo>
                    <a:pt x="38780" y="8504"/>
                    <a:pt x="59311" y="0"/>
                    <a:pt x="80719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85725"/>
              <a:ext cx="1605362" cy="62680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25"/>
                </a:lnSpc>
              </a:pPr>
              <a:r>
                <a:rPr lang="en-US" sz="2500" spc="-205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Gestion de base de données relationnelle garantissant l'intégrité des transactions financières.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746207" y="5803740"/>
            <a:ext cx="4795587" cy="2128485"/>
            <a:chOff x="0" y="0"/>
            <a:chExt cx="1605362" cy="71252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05362" cy="712528"/>
            </a:xfrm>
            <a:custGeom>
              <a:avLst/>
              <a:gdLst/>
              <a:ahLst/>
              <a:cxnLst/>
              <a:rect r="r" b="b" t="t" l="l"/>
              <a:pathLst>
                <a:path h="712528" w="1605362">
                  <a:moveTo>
                    <a:pt x="80719" y="0"/>
                  </a:moveTo>
                  <a:lnTo>
                    <a:pt x="1524643" y="0"/>
                  </a:lnTo>
                  <a:cubicBezTo>
                    <a:pt x="1569223" y="0"/>
                    <a:pt x="1605362" y="36139"/>
                    <a:pt x="1605362" y="80719"/>
                  </a:cubicBezTo>
                  <a:lnTo>
                    <a:pt x="1605362" y="631809"/>
                  </a:lnTo>
                  <a:cubicBezTo>
                    <a:pt x="1605362" y="653217"/>
                    <a:pt x="1596858" y="673748"/>
                    <a:pt x="1581720" y="688886"/>
                  </a:cubicBezTo>
                  <a:cubicBezTo>
                    <a:pt x="1566582" y="704024"/>
                    <a:pt x="1546051" y="712528"/>
                    <a:pt x="1524643" y="712528"/>
                  </a:cubicBezTo>
                  <a:lnTo>
                    <a:pt x="80719" y="712528"/>
                  </a:lnTo>
                  <a:cubicBezTo>
                    <a:pt x="36139" y="712528"/>
                    <a:pt x="0" y="676389"/>
                    <a:pt x="0" y="631809"/>
                  </a:cubicBezTo>
                  <a:lnTo>
                    <a:pt x="0" y="80719"/>
                  </a:lnTo>
                  <a:cubicBezTo>
                    <a:pt x="0" y="59311"/>
                    <a:pt x="8504" y="38780"/>
                    <a:pt x="23642" y="23642"/>
                  </a:cubicBezTo>
                  <a:cubicBezTo>
                    <a:pt x="38780" y="8504"/>
                    <a:pt x="59311" y="0"/>
                    <a:pt x="80719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85725"/>
              <a:ext cx="1605362" cy="62680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25"/>
                </a:lnSpc>
              </a:pPr>
              <a:r>
                <a:rPr lang="en-US" sz="2500" spc="-205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Utilisation d'une interface responsive et moderne pour un confort d'utilisation sur tablette et ordinateur.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45745" y="5775895"/>
            <a:ext cx="4795587" cy="2128485"/>
            <a:chOff x="0" y="0"/>
            <a:chExt cx="1605362" cy="71252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605362" cy="712528"/>
            </a:xfrm>
            <a:custGeom>
              <a:avLst/>
              <a:gdLst/>
              <a:ahLst/>
              <a:cxnLst/>
              <a:rect r="r" b="b" t="t" l="l"/>
              <a:pathLst>
                <a:path h="712528" w="1605362">
                  <a:moveTo>
                    <a:pt x="80719" y="0"/>
                  </a:moveTo>
                  <a:lnTo>
                    <a:pt x="1524643" y="0"/>
                  </a:lnTo>
                  <a:cubicBezTo>
                    <a:pt x="1569223" y="0"/>
                    <a:pt x="1605362" y="36139"/>
                    <a:pt x="1605362" y="80719"/>
                  </a:cubicBezTo>
                  <a:lnTo>
                    <a:pt x="1605362" y="631809"/>
                  </a:lnTo>
                  <a:cubicBezTo>
                    <a:pt x="1605362" y="653217"/>
                    <a:pt x="1596858" y="673748"/>
                    <a:pt x="1581720" y="688886"/>
                  </a:cubicBezTo>
                  <a:cubicBezTo>
                    <a:pt x="1566582" y="704024"/>
                    <a:pt x="1546051" y="712528"/>
                    <a:pt x="1524643" y="712528"/>
                  </a:cubicBezTo>
                  <a:lnTo>
                    <a:pt x="80719" y="712528"/>
                  </a:lnTo>
                  <a:cubicBezTo>
                    <a:pt x="36139" y="712528"/>
                    <a:pt x="0" y="676389"/>
                    <a:pt x="0" y="631809"/>
                  </a:cubicBezTo>
                  <a:lnTo>
                    <a:pt x="0" y="80719"/>
                  </a:lnTo>
                  <a:cubicBezTo>
                    <a:pt x="0" y="59311"/>
                    <a:pt x="8504" y="38780"/>
                    <a:pt x="23642" y="23642"/>
                  </a:cubicBezTo>
                  <a:cubicBezTo>
                    <a:pt x="38780" y="8504"/>
                    <a:pt x="59311" y="0"/>
                    <a:pt x="80719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85725"/>
              <a:ext cx="1605362" cy="62680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25"/>
                </a:lnSpc>
              </a:pPr>
              <a:r>
                <a:rPr lang="en-US" sz="2500" spc="-205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Framework backend assurant la sécurité, la rapidité de développement et une interface d'administration native.</a:t>
              </a:r>
            </a:p>
          </p:txBody>
        </p:sp>
      </p:grpSp>
      <p:sp>
        <p:nvSpPr>
          <p:cNvPr name="AutoShape 14" id="14"/>
          <p:cNvSpPr/>
          <p:nvPr/>
        </p:nvSpPr>
        <p:spPr>
          <a:xfrm flipV="true">
            <a:off x="12466668" y="6535031"/>
            <a:ext cx="0" cy="738797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" id="15"/>
          <p:cNvSpPr/>
          <p:nvPr/>
        </p:nvSpPr>
        <p:spPr>
          <a:xfrm flipV="true">
            <a:off x="6765257" y="6458455"/>
            <a:ext cx="0" cy="738797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6" id="16"/>
          <p:cNvSpPr/>
          <p:nvPr/>
        </p:nvSpPr>
        <p:spPr>
          <a:xfrm flipV="true">
            <a:off x="1064795" y="6535031"/>
            <a:ext cx="0" cy="738797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7" id="17"/>
          <p:cNvSpPr/>
          <p:nvPr/>
        </p:nvSpPr>
        <p:spPr>
          <a:xfrm flipH="false" flipV="false" rot="0">
            <a:off x="1064795" y="4392736"/>
            <a:ext cx="1383159" cy="1383159"/>
          </a:xfrm>
          <a:custGeom>
            <a:avLst/>
            <a:gdLst/>
            <a:ahLst/>
            <a:cxnLst/>
            <a:rect r="r" b="b" t="t" l="l"/>
            <a:pathLst>
              <a:path h="1383159" w="1383159">
                <a:moveTo>
                  <a:pt x="0" y="0"/>
                </a:moveTo>
                <a:lnTo>
                  <a:pt x="1383159" y="0"/>
                </a:lnTo>
                <a:lnTo>
                  <a:pt x="1383159" y="1383159"/>
                </a:lnTo>
                <a:lnTo>
                  <a:pt x="0" y="13831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6765257" y="4420581"/>
            <a:ext cx="1656495" cy="1355314"/>
          </a:xfrm>
          <a:custGeom>
            <a:avLst/>
            <a:gdLst/>
            <a:ahLst/>
            <a:cxnLst/>
            <a:rect r="r" b="b" t="t" l="l"/>
            <a:pathLst>
              <a:path h="1355314" w="1656495">
                <a:moveTo>
                  <a:pt x="0" y="0"/>
                </a:moveTo>
                <a:lnTo>
                  <a:pt x="1656495" y="0"/>
                </a:lnTo>
                <a:lnTo>
                  <a:pt x="1656495" y="1355314"/>
                </a:lnTo>
                <a:lnTo>
                  <a:pt x="0" y="135531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2718481" y="4392736"/>
            <a:ext cx="1091370" cy="1383159"/>
          </a:xfrm>
          <a:custGeom>
            <a:avLst/>
            <a:gdLst/>
            <a:ahLst/>
            <a:cxnLst/>
            <a:rect r="r" b="b" t="t" l="l"/>
            <a:pathLst>
              <a:path h="1383159" w="1091370">
                <a:moveTo>
                  <a:pt x="0" y="0"/>
                </a:moveTo>
                <a:lnTo>
                  <a:pt x="1091370" y="0"/>
                </a:lnTo>
                <a:lnTo>
                  <a:pt x="1091370" y="1383159"/>
                </a:lnTo>
                <a:lnTo>
                  <a:pt x="0" y="138315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3625658" y="1009650"/>
            <a:ext cx="11036683" cy="8713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383"/>
              </a:lnSpc>
            </a:pPr>
            <a:r>
              <a:rPr lang="en-US" b="true" sz="5599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Architecture et Technologies 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447954" y="4779167"/>
            <a:ext cx="3129070" cy="3950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23"/>
              </a:lnSpc>
            </a:pPr>
            <a:r>
              <a:rPr lang="en-US" sz="2799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Django (Python)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4028926" y="4779167"/>
            <a:ext cx="2031439" cy="3950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23"/>
              </a:lnSpc>
            </a:pPr>
            <a:r>
              <a:rPr lang="en-US" sz="2799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SQLite 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8367598" y="4779167"/>
            <a:ext cx="2797228" cy="3950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23"/>
              </a:lnSpc>
            </a:pPr>
            <a:r>
              <a:rPr lang="en-US" sz="2799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Bootstrap 5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6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14234" y="2254395"/>
            <a:ext cx="17059532" cy="7147828"/>
            <a:chOff x="0" y="0"/>
            <a:chExt cx="3034314" cy="127135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034314" cy="1271357"/>
            </a:xfrm>
            <a:custGeom>
              <a:avLst/>
              <a:gdLst/>
              <a:ahLst/>
              <a:cxnLst/>
              <a:rect r="r" b="b" t="t" l="l"/>
              <a:pathLst>
                <a:path h="1271357" w="3034314">
                  <a:moveTo>
                    <a:pt x="0" y="0"/>
                  </a:moveTo>
                  <a:lnTo>
                    <a:pt x="3034314" y="0"/>
                  </a:lnTo>
                  <a:lnTo>
                    <a:pt x="3034314" y="1271357"/>
                  </a:lnTo>
                  <a:lnTo>
                    <a:pt x="0" y="1271357"/>
                  </a:lnTo>
                  <a:close/>
                </a:path>
              </a:pathLst>
            </a:custGeom>
            <a:blipFill>
              <a:blip r:embed="rId2"/>
              <a:stretch>
                <a:fillRect l="-178" t="0" r="-178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4717518" y="1676524"/>
            <a:ext cx="8852964" cy="352246"/>
            <a:chOff x="0" y="0"/>
            <a:chExt cx="2331645" cy="9277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4354896" y="893823"/>
            <a:ext cx="9578208" cy="7827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b="true" sz="5600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Réalisation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7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53994" y="2272889"/>
            <a:ext cx="15780012" cy="8191237"/>
            <a:chOff x="0" y="0"/>
            <a:chExt cx="2806731" cy="145694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06731" cy="1456944"/>
            </a:xfrm>
            <a:custGeom>
              <a:avLst/>
              <a:gdLst/>
              <a:ahLst/>
              <a:cxnLst/>
              <a:rect r="r" b="b" t="t" l="l"/>
              <a:pathLst>
                <a:path h="1456944" w="2806731">
                  <a:moveTo>
                    <a:pt x="0" y="0"/>
                  </a:moveTo>
                  <a:lnTo>
                    <a:pt x="2806731" y="0"/>
                  </a:lnTo>
                  <a:lnTo>
                    <a:pt x="2806731" y="1456944"/>
                  </a:lnTo>
                  <a:lnTo>
                    <a:pt x="0" y="1456944"/>
                  </a:lnTo>
                  <a:close/>
                </a:path>
              </a:pathLst>
            </a:custGeom>
            <a:blipFill>
              <a:blip r:embed="rId2"/>
              <a:stretch>
                <a:fillRect l="-32" t="0" r="-32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4717518" y="1676524"/>
            <a:ext cx="8852964" cy="352246"/>
            <a:chOff x="0" y="0"/>
            <a:chExt cx="2331645" cy="9277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4354896" y="893823"/>
            <a:ext cx="9578208" cy="7827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b="true" sz="5600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Réalisation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8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28468" y="2366998"/>
            <a:ext cx="15831065" cy="7590426"/>
            <a:chOff x="0" y="0"/>
            <a:chExt cx="2815811" cy="13500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15811" cy="1350080"/>
            </a:xfrm>
            <a:custGeom>
              <a:avLst/>
              <a:gdLst/>
              <a:ahLst/>
              <a:cxnLst/>
              <a:rect r="r" b="b" t="t" l="l"/>
              <a:pathLst>
                <a:path h="1350080" w="2815811">
                  <a:moveTo>
                    <a:pt x="0" y="0"/>
                  </a:moveTo>
                  <a:lnTo>
                    <a:pt x="2815811" y="0"/>
                  </a:lnTo>
                  <a:lnTo>
                    <a:pt x="2815811" y="1350080"/>
                  </a:lnTo>
                  <a:lnTo>
                    <a:pt x="0" y="1350080"/>
                  </a:lnTo>
                  <a:close/>
                </a:path>
              </a:pathLst>
            </a:custGeom>
            <a:blipFill>
              <a:blip r:embed="rId2"/>
              <a:stretch>
                <a:fillRect l="0" t="-577" r="0" b="-577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4717518" y="1676524"/>
            <a:ext cx="8852964" cy="352246"/>
            <a:chOff x="0" y="0"/>
            <a:chExt cx="2331645" cy="9277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9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4354896" y="893823"/>
            <a:ext cx="9578208" cy="7827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b="true" sz="5600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Réalisation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497538" y="2244192"/>
            <a:ext cx="13292924" cy="8426840"/>
            <a:chOff x="0" y="0"/>
            <a:chExt cx="2815811" cy="178503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15811" cy="1785039"/>
            </a:xfrm>
            <a:custGeom>
              <a:avLst/>
              <a:gdLst/>
              <a:ahLst/>
              <a:cxnLst/>
              <a:rect r="r" b="b" t="t" l="l"/>
              <a:pathLst>
                <a:path h="1785039" w="2815811">
                  <a:moveTo>
                    <a:pt x="0" y="0"/>
                  </a:moveTo>
                  <a:lnTo>
                    <a:pt x="2815811" y="0"/>
                  </a:lnTo>
                  <a:lnTo>
                    <a:pt x="2815811" y="1785039"/>
                  </a:lnTo>
                  <a:lnTo>
                    <a:pt x="0" y="1785039"/>
                  </a:lnTo>
                  <a:close/>
                </a:path>
              </a:pathLst>
            </a:custGeom>
            <a:blipFill>
              <a:blip r:embed="rId2"/>
              <a:stretch>
                <a:fillRect l="0" t="-84" r="0" b="-84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4717518" y="1676524"/>
            <a:ext cx="8852964" cy="352246"/>
            <a:chOff x="0" y="0"/>
            <a:chExt cx="2331645" cy="9277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4354896" y="893823"/>
            <a:ext cx="9578208" cy="7827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b="true" sz="5600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Réalisation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10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28468" y="2295245"/>
            <a:ext cx="15831065" cy="7147828"/>
            <a:chOff x="0" y="0"/>
            <a:chExt cx="2815811" cy="127135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15811" cy="1271357"/>
            </a:xfrm>
            <a:custGeom>
              <a:avLst/>
              <a:gdLst/>
              <a:ahLst/>
              <a:cxnLst/>
              <a:rect r="r" b="b" t="t" l="l"/>
              <a:pathLst>
                <a:path h="1271357" w="2815811">
                  <a:moveTo>
                    <a:pt x="0" y="0"/>
                  </a:moveTo>
                  <a:lnTo>
                    <a:pt x="2815811" y="0"/>
                  </a:lnTo>
                  <a:lnTo>
                    <a:pt x="2815811" y="1271357"/>
                  </a:lnTo>
                  <a:lnTo>
                    <a:pt x="0" y="1271357"/>
                  </a:lnTo>
                  <a:close/>
                </a:path>
              </a:pathLst>
            </a:custGeom>
            <a:blipFill>
              <a:blip r:embed="rId2"/>
              <a:stretch>
                <a:fillRect l="-28" t="0" r="-28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4717518" y="1676524"/>
            <a:ext cx="8852964" cy="352246"/>
            <a:chOff x="0" y="0"/>
            <a:chExt cx="2331645" cy="9277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4354896" y="893823"/>
            <a:ext cx="9578208" cy="7827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b="true" sz="5600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Réalisation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11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242368" y="2295245"/>
            <a:ext cx="13803263" cy="7991755"/>
            <a:chOff x="0" y="0"/>
            <a:chExt cx="2815811" cy="163028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15811" cy="1630287"/>
            </a:xfrm>
            <a:custGeom>
              <a:avLst/>
              <a:gdLst/>
              <a:ahLst/>
              <a:cxnLst/>
              <a:rect r="r" b="b" t="t" l="l"/>
              <a:pathLst>
                <a:path h="1630287" w="2815811">
                  <a:moveTo>
                    <a:pt x="0" y="0"/>
                  </a:moveTo>
                  <a:lnTo>
                    <a:pt x="2815811" y="0"/>
                  </a:lnTo>
                  <a:lnTo>
                    <a:pt x="2815811" y="1630287"/>
                  </a:lnTo>
                  <a:lnTo>
                    <a:pt x="0" y="1630287"/>
                  </a:lnTo>
                  <a:close/>
                </a:path>
              </a:pathLst>
            </a:custGeom>
            <a:blipFill>
              <a:blip r:embed="rId2"/>
              <a:stretch>
                <a:fillRect l="-236" t="0" r="-236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4717518" y="1676524"/>
            <a:ext cx="8852964" cy="352246"/>
            <a:chOff x="0" y="0"/>
            <a:chExt cx="2331645" cy="9277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4354896" y="893823"/>
            <a:ext cx="9578208" cy="7827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b="true" sz="5600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Réalisation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12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956877" y="2295245"/>
            <a:ext cx="14374246" cy="7332602"/>
            <a:chOff x="0" y="0"/>
            <a:chExt cx="2815811" cy="143640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15811" cy="1436404"/>
            </a:xfrm>
            <a:custGeom>
              <a:avLst/>
              <a:gdLst/>
              <a:ahLst/>
              <a:cxnLst/>
              <a:rect r="r" b="b" t="t" l="l"/>
              <a:pathLst>
                <a:path h="1436404" w="2815811">
                  <a:moveTo>
                    <a:pt x="0" y="0"/>
                  </a:moveTo>
                  <a:lnTo>
                    <a:pt x="2815811" y="0"/>
                  </a:lnTo>
                  <a:lnTo>
                    <a:pt x="2815811" y="1436404"/>
                  </a:lnTo>
                  <a:lnTo>
                    <a:pt x="0" y="1436404"/>
                  </a:lnTo>
                  <a:close/>
                </a:path>
              </a:pathLst>
            </a:custGeom>
            <a:blipFill>
              <a:blip r:embed="rId2"/>
              <a:stretch>
                <a:fillRect l="0" t="-233" r="0" b="-233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4717518" y="1676524"/>
            <a:ext cx="8852964" cy="352246"/>
            <a:chOff x="0" y="0"/>
            <a:chExt cx="2331645" cy="9277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4354896" y="893823"/>
            <a:ext cx="9578208" cy="7827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b="true" sz="5600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Réalisation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13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769483" y="2295245"/>
            <a:ext cx="14749035" cy="8165337"/>
            <a:chOff x="0" y="0"/>
            <a:chExt cx="2815811" cy="155888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15811" cy="1558885"/>
            </a:xfrm>
            <a:custGeom>
              <a:avLst/>
              <a:gdLst/>
              <a:ahLst/>
              <a:cxnLst/>
              <a:rect r="r" b="b" t="t" l="l"/>
              <a:pathLst>
                <a:path h="1558885" w="2815811">
                  <a:moveTo>
                    <a:pt x="0" y="0"/>
                  </a:moveTo>
                  <a:lnTo>
                    <a:pt x="2815811" y="0"/>
                  </a:lnTo>
                  <a:lnTo>
                    <a:pt x="2815811" y="1558885"/>
                  </a:lnTo>
                  <a:lnTo>
                    <a:pt x="0" y="1558885"/>
                  </a:lnTo>
                  <a:close/>
                </a:path>
              </a:pathLst>
            </a:custGeom>
            <a:blipFill>
              <a:blip r:embed="rId2"/>
              <a:stretch>
                <a:fillRect l="0" t="-2269" r="0" b="-2269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4717518" y="1676524"/>
            <a:ext cx="8852964" cy="352246"/>
            <a:chOff x="0" y="0"/>
            <a:chExt cx="2331645" cy="9277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4354896" y="893823"/>
            <a:ext cx="9578208" cy="7827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b="true" sz="5600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Réalisation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14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238341" y="2295245"/>
            <a:ext cx="13811318" cy="6963055"/>
            <a:chOff x="0" y="0"/>
            <a:chExt cx="2815811" cy="141960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15811" cy="1419607"/>
            </a:xfrm>
            <a:custGeom>
              <a:avLst/>
              <a:gdLst/>
              <a:ahLst/>
              <a:cxnLst/>
              <a:rect r="r" b="b" t="t" l="l"/>
              <a:pathLst>
                <a:path h="1419607" w="2815811">
                  <a:moveTo>
                    <a:pt x="0" y="0"/>
                  </a:moveTo>
                  <a:lnTo>
                    <a:pt x="2815811" y="0"/>
                  </a:lnTo>
                  <a:lnTo>
                    <a:pt x="2815811" y="1419607"/>
                  </a:lnTo>
                  <a:lnTo>
                    <a:pt x="0" y="1419607"/>
                  </a:lnTo>
                  <a:close/>
                </a:path>
              </a:pathLst>
            </a:custGeom>
            <a:blipFill>
              <a:blip r:embed="rId2"/>
              <a:stretch>
                <a:fillRect l="0" t="-1943" r="0" b="-1943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4717518" y="1676524"/>
            <a:ext cx="8852964" cy="352246"/>
            <a:chOff x="0" y="0"/>
            <a:chExt cx="2331645" cy="9277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4354896" y="893823"/>
            <a:ext cx="9578208" cy="7827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b="true" sz="5600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Réalisation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15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433025" y="2400235"/>
            <a:ext cx="11421950" cy="7886765"/>
            <a:chOff x="0" y="0"/>
            <a:chExt cx="2815811" cy="194429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15811" cy="1944295"/>
            </a:xfrm>
            <a:custGeom>
              <a:avLst/>
              <a:gdLst/>
              <a:ahLst/>
              <a:cxnLst/>
              <a:rect r="r" b="b" t="t" l="l"/>
              <a:pathLst>
                <a:path h="1944295" w="2815811">
                  <a:moveTo>
                    <a:pt x="0" y="0"/>
                  </a:moveTo>
                  <a:lnTo>
                    <a:pt x="2815811" y="0"/>
                  </a:lnTo>
                  <a:lnTo>
                    <a:pt x="2815811" y="1944295"/>
                  </a:lnTo>
                  <a:lnTo>
                    <a:pt x="0" y="1944295"/>
                  </a:lnTo>
                  <a:close/>
                </a:path>
              </a:pathLst>
            </a:custGeom>
            <a:blipFill>
              <a:blip r:embed="rId2"/>
              <a:stretch>
                <a:fillRect l="0" t="-597" r="0" b="-597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4717518" y="1676524"/>
            <a:ext cx="8852964" cy="352246"/>
            <a:chOff x="0" y="0"/>
            <a:chExt cx="2331645" cy="9277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4354896" y="893823"/>
            <a:ext cx="9578208" cy="7827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b="true" sz="5600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Réalisation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16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492420" y="2930126"/>
            <a:ext cx="6437816" cy="4426749"/>
          </a:xfrm>
          <a:custGeom>
            <a:avLst/>
            <a:gdLst/>
            <a:ahLst/>
            <a:cxnLst/>
            <a:rect r="r" b="b" t="t" l="l"/>
            <a:pathLst>
              <a:path h="4426749" w="6437816">
                <a:moveTo>
                  <a:pt x="0" y="0"/>
                </a:moveTo>
                <a:lnTo>
                  <a:pt x="6437815" y="0"/>
                </a:lnTo>
                <a:lnTo>
                  <a:pt x="6437815" y="4426748"/>
                </a:lnTo>
                <a:lnTo>
                  <a:pt x="0" y="44267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995" t="0" r="-2995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1825835" y="3137453"/>
            <a:ext cx="5796511" cy="1354625"/>
          </a:xfrm>
          <a:custGeom>
            <a:avLst/>
            <a:gdLst/>
            <a:ahLst/>
            <a:cxnLst/>
            <a:rect r="r" b="b" t="t" l="l"/>
            <a:pathLst>
              <a:path h="1354625" w="5796511">
                <a:moveTo>
                  <a:pt x="0" y="0"/>
                </a:moveTo>
                <a:lnTo>
                  <a:pt x="5796511" y="0"/>
                </a:lnTo>
                <a:lnTo>
                  <a:pt x="5796511" y="1354625"/>
                </a:lnTo>
                <a:lnTo>
                  <a:pt x="0" y="1354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201" t="-23037" r="-26437" b="-33481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426698" y="2407463"/>
            <a:ext cx="7425121" cy="7827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31"/>
              </a:lnSpc>
            </a:pPr>
            <a:r>
              <a:rPr lang="en-US" sz="5599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Conclusion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26698" y="3458730"/>
            <a:ext cx="8757628" cy="3268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240"/>
              </a:lnSpc>
              <a:buFont typeface="Arial"/>
              <a:buChar char="•"/>
            </a:pPr>
            <a:r>
              <a:rPr lang="en-US" sz="2400" spc="144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Digitalisation et automatisation réussies des processus de gestion pour garantir un</a:t>
            </a:r>
            <a:r>
              <a:rPr lang="en-US" sz="2400" spc="144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e fiabilité totale des données et une rentabilité optimale du club.</a:t>
            </a:r>
          </a:p>
          <a:p>
            <a:pPr algn="l" marL="518160" indent="-259080" lvl="1">
              <a:lnSpc>
                <a:spcPts val="3240"/>
              </a:lnSpc>
              <a:buFont typeface="Arial"/>
              <a:buChar char="•"/>
            </a:pPr>
            <a:r>
              <a:rPr lang="en-US" sz="2400" spc="144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Architecture robuste et évolutive offrant une solution métier sécurisée, prête à intégrer de futures innovations technologiques comme la biométrie.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17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368367" y="3654033"/>
            <a:ext cx="4812609" cy="4786358"/>
          </a:xfrm>
          <a:custGeom>
            <a:avLst/>
            <a:gdLst/>
            <a:ahLst/>
            <a:cxnLst/>
            <a:rect r="r" b="b" t="t" l="l"/>
            <a:pathLst>
              <a:path h="4786358" w="4812609">
                <a:moveTo>
                  <a:pt x="0" y="0"/>
                </a:moveTo>
                <a:lnTo>
                  <a:pt x="4812609" y="0"/>
                </a:lnTo>
                <a:lnTo>
                  <a:pt x="4812609" y="4786359"/>
                </a:lnTo>
                <a:lnTo>
                  <a:pt x="0" y="47863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190659" y="1387716"/>
            <a:ext cx="7831454" cy="7827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b="true" sz="5600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PERSPECTIVE FUTURE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762025" y="3823329"/>
            <a:ext cx="2578734" cy="4458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04"/>
              </a:lnSpc>
            </a:pPr>
            <a:r>
              <a:rPr lang="en-US" b="true" sz="3200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MOBILE APP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4717518" y="2149711"/>
            <a:ext cx="8852964" cy="352246"/>
            <a:chOff x="0" y="0"/>
            <a:chExt cx="2331645" cy="9277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331645" cy="92773"/>
            </a:xfrm>
            <a:custGeom>
              <a:avLst/>
              <a:gdLst/>
              <a:ahLst/>
              <a:cxnLst/>
              <a:rect r="r" b="b" t="t" l="l"/>
              <a:pathLst>
                <a:path h="92773" w="2331645">
                  <a:moveTo>
                    <a:pt x="44600" y="0"/>
                  </a:moveTo>
                  <a:lnTo>
                    <a:pt x="2287045" y="0"/>
                  </a:lnTo>
                  <a:cubicBezTo>
                    <a:pt x="2311677" y="0"/>
                    <a:pt x="2331645" y="19968"/>
                    <a:pt x="2331645" y="44600"/>
                  </a:cubicBezTo>
                  <a:lnTo>
                    <a:pt x="2331645" y="48173"/>
                  </a:lnTo>
                  <a:cubicBezTo>
                    <a:pt x="2331645" y="72805"/>
                    <a:pt x="2311677" y="92773"/>
                    <a:pt x="2287045" y="92773"/>
                  </a:cubicBezTo>
                  <a:lnTo>
                    <a:pt x="44600" y="92773"/>
                  </a:lnTo>
                  <a:cubicBezTo>
                    <a:pt x="19968" y="92773"/>
                    <a:pt x="0" y="72805"/>
                    <a:pt x="0" y="48173"/>
                  </a:cubicBezTo>
                  <a:lnTo>
                    <a:pt x="0" y="44600"/>
                  </a:lnTo>
                  <a:cubicBezTo>
                    <a:pt x="0" y="19968"/>
                    <a:pt x="19968" y="0"/>
                    <a:pt x="44600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2331645" cy="130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329391" y="4459726"/>
            <a:ext cx="3444003" cy="1263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Application client pour consulter son statut et ses avantages.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762025" y="6540980"/>
            <a:ext cx="2955493" cy="4458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04"/>
              </a:lnSpc>
            </a:pPr>
            <a:r>
              <a:rPr lang="en-US" b="true" sz="3200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ANALYTICS AI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29391" y="7177377"/>
            <a:ext cx="3444003" cy="1682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Préd</a:t>
            </a: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iction des désabonnements basée sur la fréquence de visite.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454747" y="3823329"/>
            <a:ext cx="2578734" cy="4458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04"/>
              </a:lnSpc>
            </a:pPr>
            <a:r>
              <a:rPr lang="en-US" b="true" sz="3200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BIOMÉTRIE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3022113" y="4459726"/>
            <a:ext cx="3444003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Automatis</a:t>
            </a: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ation totale de l'accès à la salle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331590" y="6540980"/>
            <a:ext cx="5268395" cy="4458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04"/>
              </a:lnSpc>
            </a:pPr>
            <a:r>
              <a:rPr lang="en-US" b="true" sz="3200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EXPANSION STRATÉGIQUE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771651" y="7177377"/>
            <a:ext cx="4102886" cy="1682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API ouvert</a:t>
            </a: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 pour connecter d’autres services (paiement, CRM, marketing).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6463122" y="-112489"/>
            <a:ext cx="796178" cy="1141189"/>
            <a:chOff x="0" y="0"/>
            <a:chExt cx="381000" cy="5461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0" cy="546100"/>
            </a:xfrm>
            <a:custGeom>
              <a:avLst/>
              <a:gdLst/>
              <a:ahLst/>
              <a:cxnLst/>
              <a:rect r="r" b="b" t="t" l="l"/>
              <a:pathLst>
                <a:path h="546100" w="381000">
                  <a:moveTo>
                    <a:pt x="381000" y="49530"/>
                  </a:moveTo>
                  <a:lnTo>
                    <a:pt x="381000" y="546100"/>
                  </a:lnTo>
                  <a:lnTo>
                    <a:pt x="190500" y="447040"/>
                  </a:lnTo>
                  <a:lnTo>
                    <a:pt x="0" y="546100"/>
                  </a:lnTo>
                  <a:lnTo>
                    <a:pt x="0" y="49530"/>
                  </a:lnTo>
                  <a:cubicBezTo>
                    <a:pt x="0" y="22860"/>
                    <a:pt x="22860" y="0"/>
                    <a:pt x="49530" y="0"/>
                  </a:cubicBezTo>
                  <a:lnTo>
                    <a:pt x="331470" y="0"/>
                  </a:lnTo>
                  <a:cubicBezTo>
                    <a:pt x="358140" y="0"/>
                    <a:pt x="381000" y="21590"/>
                    <a:pt x="381000" y="5080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0" cy="485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18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>
  <p:cSld>
    <p:bg>
      <p:bgPr>
        <a:solidFill>
          <a:srgbClr val="AAD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182017" y="4063522"/>
            <a:ext cx="11923966" cy="15630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460"/>
              </a:lnSpc>
            </a:pPr>
            <a:r>
              <a:rPr lang="en-US" b="true" sz="12023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MARCI!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5652409" y="5626566"/>
            <a:ext cx="6983181" cy="669188"/>
            <a:chOff x="0" y="0"/>
            <a:chExt cx="1839192" cy="17624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39192" cy="176247"/>
            </a:xfrm>
            <a:custGeom>
              <a:avLst/>
              <a:gdLst/>
              <a:ahLst/>
              <a:cxnLst/>
              <a:rect r="r" b="b" t="t" l="l"/>
              <a:pathLst>
                <a:path h="176247" w="1839192">
                  <a:moveTo>
                    <a:pt x="0" y="0"/>
                  </a:moveTo>
                  <a:lnTo>
                    <a:pt x="1839192" y="0"/>
                  </a:lnTo>
                  <a:lnTo>
                    <a:pt x="1839192" y="176247"/>
                  </a:lnTo>
                  <a:lnTo>
                    <a:pt x="0" y="176247"/>
                  </a:lnTo>
                  <a:close/>
                </a:path>
              </a:pathLst>
            </a:custGeom>
            <a:solidFill>
              <a:srgbClr val="AAD7D4"/>
            </a:solidFill>
            <a:ln w="28575" cap="sq">
              <a:solidFill>
                <a:srgbClr val="1C2120"/>
              </a:soli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839192" cy="2143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sz="1899">
                  <a:solidFill>
                    <a:srgbClr val="000000"/>
                  </a:solidFill>
                  <a:latin typeface="Open Sans Light"/>
                  <a:ea typeface="Open Sans Light"/>
                  <a:cs typeface="Open Sans Light"/>
                  <a:sym typeface="Open Sans Light"/>
                </a:rPr>
                <a:t>QUESTION?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101622" y="-767350"/>
            <a:ext cx="22013892" cy="12354774"/>
          </a:xfrm>
          <a:custGeom>
            <a:avLst/>
            <a:gdLst/>
            <a:ahLst/>
            <a:cxnLst/>
            <a:rect r="r" b="b" t="t" l="l"/>
            <a:pathLst>
              <a:path h="12354774" w="22013892">
                <a:moveTo>
                  <a:pt x="0" y="0"/>
                </a:moveTo>
                <a:lnTo>
                  <a:pt x="22013891" y="0"/>
                </a:lnTo>
                <a:lnTo>
                  <a:pt x="22013891" y="12354775"/>
                </a:lnTo>
                <a:lnTo>
                  <a:pt x="0" y="123547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2000"/>
            </a:blip>
            <a:stretch>
              <a:fillRect l="0" t="-9467" r="0" b="-9467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586640" y="3776756"/>
            <a:ext cx="13114720" cy="19921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61"/>
              </a:lnSpc>
            </a:pPr>
            <a:r>
              <a:rPr lang="en-US" b="true" sz="8525" spc="-460">
                <a:solidFill>
                  <a:srgbClr val="1C212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SYSTÈME DE GESTION DES MEMBRES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270072" y="224981"/>
            <a:ext cx="3838575" cy="1228725"/>
            <a:chOff x="0" y="0"/>
            <a:chExt cx="5118100" cy="16383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118100" cy="1638300"/>
            </a:xfrm>
            <a:custGeom>
              <a:avLst/>
              <a:gdLst/>
              <a:ahLst/>
              <a:cxnLst/>
              <a:rect r="r" b="b" t="t" l="l"/>
              <a:pathLst>
                <a:path h="1638300" w="5118100">
                  <a:moveTo>
                    <a:pt x="0" y="0"/>
                  </a:moveTo>
                  <a:lnTo>
                    <a:pt x="5118100" y="0"/>
                  </a:lnTo>
                  <a:lnTo>
                    <a:pt x="5118100" y="1638300"/>
                  </a:lnTo>
                  <a:lnTo>
                    <a:pt x="0" y="1638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-40310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28700" y="8496300"/>
            <a:ext cx="3556454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79"/>
              </a:lnSpc>
            </a:pPr>
            <a:r>
              <a:rPr lang="en-US" b="true" sz="24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Présenté par :</a:t>
            </a:r>
          </a:p>
          <a:p>
            <a:pPr algn="l" marL="518160" indent="-259080" lvl="1">
              <a:lnSpc>
                <a:spcPts val="2879"/>
              </a:lnSpc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Assma Raji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181601" y="622935"/>
            <a:ext cx="6304657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399" spc="-95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Filière : Ingénierie Informatique et Réseaux (3IIR)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605311" y="8496300"/>
            <a:ext cx="3836988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Supervisé par</a:t>
            </a:r>
            <a:r>
              <a:rPr lang="en-US" sz="2400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: </a:t>
            </a:r>
          </a:p>
          <a:p>
            <a:pPr algn="l" marL="518160" indent="-259080" lvl="1">
              <a:lnSpc>
                <a:spcPts val="2879"/>
              </a:lnSpc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Pr.GHAZOUANI Mohamed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322981" y="5759345"/>
            <a:ext cx="7164685" cy="6615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22"/>
              </a:lnSpc>
              <a:spcBef>
                <a:spcPct val="0"/>
              </a:spcBef>
            </a:pPr>
            <a:r>
              <a:rPr lang="en-US" sz="431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</a:t>
            </a:r>
            <a:r>
              <a:rPr lang="en-US" sz="431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ojet : GymClub Manager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DAHJHp18_8w</dc:identifier>
  <dcterms:modified xsi:type="dcterms:W3CDTF">2011-08-01T06:04:30Z</dcterms:modified>
  <cp:revision>1</cp:revision>
  <dc:title>ppt-assma raji</dc:title>
</cp:coreProperties>
</file>